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4C160A-1457-4E74-A2E7-71E93A287A52}">
  <a:tblStyle styleId="{994C160A-1457-4E74-A2E7-71E93A287A5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 name="Google Shape;23;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1" name="Google Shape;4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6" name="Google Shape;5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1" name="Google Shape;7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6" name="Google Shape;8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1" name="Google Shape;10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6" name="Google Shape;11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1" name="Google Shape;13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6" name="Google Shape;14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SIS COVER">
  <p:cSld name="GENESIS COVER">
    <p:bg>
      <p:bgPr>
        <a:solidFill>
          <a:schemeClr val="dk2"/>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SIS CONTENT">
  <p:cSld name="GENESIS CONTENT">
    <p:bg>
      <p:bgPr>
        <a:solidFill>
          <a:schemeClr val="lt2"/>
        </a:solidFill>
      </p:bgPr>
    </p:bg>
    <p:spTree>
      <p:nvGrpSpPr>
        <p:cNvPr id="8" name="Shape 8"/>
        <p:cNvGrpSpPr/>
        <p:nvPr/>
      </p:nvGrpSpPr>
      <p:grpSpPr>
        <a:xfrm>
          <a:off x="0" y="0"/>
          <a:ext cx="0" cy="0"/>
          <a:chOff x="0" y="0"/>
          <a:chExt cx="0" cy="0"/>
        </a:xfrm>
      </p:grpSpPr>
      <p:sp>
        <p:nvSpPr>
          <p:cNvPr id="9" name="Google Shape;9;p3"/>
          <p:cNvSpPr/>
          <p:nvPr/>
        </p:nvSpPr>
        <p:spPr>
          <a:xfrm>
            <a:off x="10911535" y="320040"/>
            <a:ext cx="82296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descr="Genesis logo" id="10" name="Google Shape;10;p3"/>
          <p:cNvPicPr preferRelativeResize="0"/>
          <p:nvPr/>
        </p:nvPicPr>
        <p:blipFill rotWithShape="1">
          <a:blip r:embed="rId2">
            <a:alphaModFix/>
          </a:blip>
          <a:srcRect b="0" l="0" r="0" t="0"/>
          <a:stretch/>
        </p:blipFill>
        <p:spPr>
          <a:xfrm>
            <a:off x="11055950" y="384048"/>
            <a:ext cx="534131" cy="694944"/>
          </a:xfrm>
          <a:prstGeom prst="rect">
            <a:avLst/>
          </a:prstGeom>
          <a:noFill/>
          <a:ln>
            <a:noFill/>
          </a:ln>
        </p:spPr>
      </p:pic>
      <p:sp>
        <p:nvSpPr>
          <p:cNvPr id="11" name="Google Shape;11;p3"/>
          <p:cNvSpPr/>
          <p:nvPr/>
        </p:nvSpPr>
        <p:spPr>
          <a:xfrm>
            <a:off x="0" y="6355080"/>
            <a:ext cx="12191695" cy="50292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
          <p:cNvSpPr/>
          <p:nvPr/>
        </p:nvSpPr>
        <p:spPr>
          <a:xfrm>
            <a:off x="2286000" y="6355080"/>
            <a:ext cx="7619695"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050"/>
              <a:buFont typeface="Calibri"/>
              <a:buNone/>
            </a:pPr>
            <a:r>
              <a:rPr lang="en-US" spc="100" sz="1050">
                <a:solidFill>
                  <a:schemeClr val="accent6"/>
                </a:solidFill>
                <a:latin typeface="Calibri"/>
                <a:ea typeface="Calibri"/>
                <a:cs typeface="Calibri"/>
                <a:sym typeface="Calibri"/>
              </a:rPr>
              <a:t>Genesis Ideathon – Pre-Ideathon Template</a:t>
            </a:r>
            <a:endParaRPr sz="1050">
              <a:solidFill>
                <a:schemeClr val="dk1"/>
              </a:solidFill>
              <a:latin typeface="Calibri"/>
              <a:ea typeface="Calibri"/>
              <a:cs typeface="Calibri"/>
              <a:sym typeface="Calibri"/>
            </a:endParaRPr>
          </a:p>
        </p:txBody>
      </p:sp>
      <p:sp>
        <p:nvSpPr>
          <p:cNvPr id="13" name="Google Shape;13;p3"/>
          <p:cNvSpPr/>
          <p:nvPr/>
        </p:nvSpPr>
        <p:spPr>
          <a:xfrm>
            <a:off x="11259007" y="6409944"/>
            <a:ext cx="457200" cy="395935"/>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4" name="Google Shape;14;p3"/>
          <p:cNvSpPr/>
          <p:nvPr/>
        </p:nvSpPr>
        <p:spPr>
          <a:xfrm rot="5400000">
            <a:off x="10610311" y="4686300"/>
            <a:ext cx="1425408" cy="1234440"/>
          </a:xfrm>
          <a:prstGeom prst="hexagon">
            <a:avLst>
              <a:gd fmla="val 25000" name="adj"/>
              <a:gd fmla="val 115470" name="vf"/>
            </a:avLst>
          </a:prstGeom>
          <a:noFill/>
          <a:ln cap="flat" cmpd="sng" w="15875">
            <a:solidFill>
              <a:schemeClr val="accent4">
                <a:alpha val="2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5" name="Google Shape;15;p3"/>
          <p:cNvSpPr/>
          <p:nvPr/>
        </p:nvSpPr>
        <p:spPr>
          <a:xfrm rot="5400000">
            <a:off x="9750599" y="5349240"/>
            <a:ext cx="950272" cy="822960"/>
          </a:xfrm>
          <a:prstGeom prst="hexagon">
            <a:avLst>
              <a:gd fmla="val 25000" name="adj"/>
              <a:gd fmla="val 115470" name="vf"/>
            </a:avLst>
          </a:prstGeom>
          <a:noFill/>
          <a:ln cap="flat" cmpd="sng" w="15875">
            <a:solidFill>
              <a:schemeClr val="accent4">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6" name="Google Shape;16;p3"/>
          <p:cNvSpPr/>
          <p:nvPr/>
        </p:nvSpPr>
        <p:spPr>
          <a:xfrm rot="5400000">
            <a:off x="11579399" y="3840480"/>
            <a:ext cx="950272" cy="822960"/>
          </a:xfrm>
          <a:prstGeom prst="hexagon">
            <a:avLst>
              <a:gd fmla="val 25000" name="adj"/>
              <a:gd fmla="val 115470" name="vf"/>
            </a:avLst>
          </a:prstGeom>
          <a:noFill/>
          <a:ln cap="flat" cmpd="sng" w="15875">
            <a:solidFill>
              <a:schemeClr val="accent4">
                <a:alpha val="18039"/>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7" name="Google Shape;17;p3"/>
          <p:cNvSpPr txBox="1"/>
          <p:nvPr>
            <p:ph type="title"/>
          </p:nvPr>
        </p:nvSpPr>
        <p:spPr>
          <a:xfrm>
            <a:off x="3246120" y="320040"/>
            <a:ext cx="7498080" cy="82296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2"/>
              </a:buClr>
              <a:buSzPts val="2400"/>
              <a:buFont typeface="Cambria"/>
              <a:buNone/>
              <a:defRPr b="1" i="0" spc="100" sz="2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3"/>
          <p:cNvSpPr txBox="1"/>
          <p:nvPr>
            <p:ph idx="12" type="sldNum"/>
          </p:nvPr>
        </p:nvSpPr>
        <p:spPr>
          <a:xfrm>
            <a:off x="11259007" y="6409944"/>
            <a:ext cx="457200" cy="395935"/>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1" sz="1100">
                <a:solidFill>
                  <a:schemeClr val="dk2"/>
                </a:solidFill>
                <a:latin typeface="Calibri"/>
                <a:ea typeface="Calibri"/>
                <a:cs typeface="Calibri"/>
                <a:sym typeface="Calibri"/>
              </a:defRPr>
            </a:lvl1pPr>
            <a:lvl2pPr indent="0" lvl="1" marL="0" marR="0" algn="ctr">
              <a:spcBef>
                <a:spcPts val="0"/>
              </a:spcBef>
              <a:buNone/>
              <a:defRPr b="1" sz="1100">
                <a:solidFill>
                  <a:schemeClr val="dk2"/>
                </a:solidFill>
                <a:latin typeface="Calibri"/>
                <a:ea typeface="Calibri"/>
                <a:cs typeface="Calibri"/>
                <a:sym typeface="Calibri"/>
              </a:defRPr>
            </a:lvl2pPr>
            <a:lvl3pPr indent="0" lvl="2" marL="0" marR="0" algn="ctr">
              <a:spcBef>
                <a:spcPts val="0"/>
              </a:spcBef>
              <a:buNone/>
              <a:defRPr b="1" sz="1100">
                <a:solidFill>
                  <a:schemeClr val="dk2"/>
                </a:solidFill>
                <a:latin typeface="Calibri"/>
                <a:ea typeface="Calibri"/>
                <a:cs typeface="Calibri"/>
                <a:sym typeface="Calibri"/>
              </a:defRPr>
            </a:lvl3pPr>
            <a:lvl4pPr indent="0" lvl="3" marL="0" marR="0" algn="ctr">
              <a:spcBef>
                <a:spcPts val="0"/>
              </a:spcBef>
              <a:buNone/>
              <a:defRPr b="1" sz="1100">
                <a:solidFill>
                  <a:schemeClr val="dk2"/>
                </a:solidFill>
                <a:latin typeface="Calibri"/>
                <a:ea typeface="Calibri"/>
                <a:cs typeface="Calibri"/>
                <a:sym typeface="Calibri"/>
              </a:defRPr>
            </a:lvl4pPr>
            <a:lvl5pPr indent="0" lvl="4" marL="0" marR="0" algn="ctr">
              <a:spcBef>
                <a:spcPts val="0"/>
              </a:spcBef>
              <a:buNone/>
              <a:defRPr b="1" sz="1100">
                <a:solidFill>
                  <a:schemeClr val="dk2"/>
                </a:solidFill>
                <a:latin typeface="Calibri"/>
                <a:ea typeface="Calibri"/>
                <a:cs typeface="Calibri"/>
                <a:sym typeface="Calibri"/>
              </a:defRPr>
            </a:lvl5pPr>
            <a:lvl6pPr indent="0" lvl="5" marL="0" marR="0" algn="ctr">
              <a:spcBef>
                <a:spcPts val="0"/>
              </a:spcBef>
              <a:buNone/>
              <a:defRPr b="1" sz="1100">
                <a:solidFill>
                  <a:schemeClr val="dk2"/>
                </a:solidFill>
                <a:latin typeface="Calibri"/>
                <a:ea typeface="Calibri"/>
                <a:cs typeface="Calibri"/>
                <a:sym typeface="Calibri"/>
              </a:defRPr>
            </a:lvl6pPr>
            <a:lvl7pPr indent="0" lvl="6" marL="0" marR="0" algn="ctr">
              <a:spcBef>
                <a:spcPts val="0"/>
              </a:spcBef>
              <a:buNone/>
              <a:defRPr b="1" sz="1100">
                <a:solidFill>
                  <a:schemeClr val="dk2"/>
                </a:solidFill>
                <a:latin typeface="Calibri"/>
                <a:ea typeface="Calibri"/>
                <a:cs typeface="Calibri"/>
                <a:sym typeface="Calibri"/>
              </a:defRPr>
            </a:lvl7pPr>
            <a:lvl8pPr indent="0" lvl="7" marL="0" marR="0" algn="ctr">
              <a:spcBef>
                <a:spcPts val="0"/>
              </a:spcBef>
              <a:buNone/>
              <a:defRPr b="1" sz="1100">
                <a:solidFill>
                  <a:schemeClr val="dk2"/>
                </a:solidFill>
                <a:latin typeface="Calibri"/>
                <a:ea typeface="Calibri"/>
                <a:cs typeface="Calibri"/>
                <a:sym typeface="Calibri"/>
              </a:defRPr>
            </a:lvl8pPr>
            <a:lvl9pPr indent="0" lvl="8" marL="0" marR="0" algn="ctr">
              <a:spcBef>
                <a:spcPts val="0"/>
              </a:spcBef>
              <a:buNone/>
              <a:defRPr b="1" sz="1100">
                <a:solidFill>
                  <a:schemeClr val="dk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11259007" y="6409944"/>
            <a:ext cx="457200" cy="395935"/>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b="1" i="0" sz="1100" u="none" cap="none" strike="noStrike">
                <a:solidFill>
                  <a:schemeClr val="dk2"/>
                </a:solidFill>
                <a:latin typeface="Calibri"/>
                <a:ea typeface="Calibri"/>
                <a:cs typeface="Calibri"/>
                <a:sym typeface="Calibri"/>
              </a:defRPr>
            </a:lvl1pPr>
            <a:lvl2pPr indent="0" lvl="1" marL="0" marR="0" rtl="0" algn="ctr">
              <a:spcBef>
                <a:spcPts val="0"/>
              </a:spcBef>
              <a:buNone/>
              <a:defRPr b="1" i="0" sz="1100" u="none" cap="none" strike="noStrike">
                <a:solidFill>
                  <a:schemeClr val="dk2"/>
                </a:solidFill>
                <a:latin typeface="Calibri"/>
                <a:ea typeface="Calibri"/>
                <a:cs typeface="Calibri"/>
                <a:sym typeface="Calibri"/>
              </a:defRPr>
            </a:lvl2pPr>
            <a:lvl3pPr indent="0" lvl="2" marL="0" marR="0" rtl="0" algn="ctr">
              <a:spcBef>
                <a:spcPts val="0"/>
              </a:spcBef>
              <a:buNone/>
              <a:defRPr b="1" i="0" sz="1100" u="none" cap="none" strike="noStrike">
                <a:solidFill>
                  <a:schemeClr val="dk2"/>
                </a:solidFill>
                <a:latin typeface="Calibri"/>
                <a:ea typeface="Calibri"/>
                <a:cs typeface="Calibri"/>
                <a:sym typeface="Calibri"/>
              </a:defRPr>
            </a:lvl3pPr>
            <a:lvl4pPr indent="0" lvl="3" marL="0" marR="0" rtl="0" algn="ctr">
              <a:spcBef>
                <a:spcPts val="0"/>
              </a:spcBef>
              <a:buNone/>
              <a:defRPr b="1" i="0" sz="1100" u="none" cap="none" strike="noStrike">
                <a:solidFill>
                  <a:schemeClr val="dk2"/>
                </a:solidFill>
                <a:latin typeface="Calibri"/>
                <a:ea typeface="Calibri"/>
                <a:cs typeface="Calibri"/>
                <a:sym typeface="Calibri"/>
              </a:defRPr>
            </a:lvl4pPr>
            <a:lvl5pPr indent="0" lvl="4" marL="0" marR="0" rtl="0" algn="ctr">
              <a:spcBef>
                <a:spcPts val="0"/>
              </a:spcBef>
              <a:buNone/>
              <a:defRPr b="1" i="0" sz="1100" u="none" cap="none" strike="noStrike">
                <a:solidFill>
                  <a:schemeClr val="dk2"/>
                </a:solidFill>
                <a:latin typeface="Calibri"/>
                <a:ea typeface="Calibri"/>
                <a:cs typeface="Calibri"/>
                <a:sym typeface="Calibri"/>
              </a:defRPr>
            </a:lvl5pPr>
            <a:lvl6pPr indent="0" lvl="5" marL="0" marR="0" rtl="0" algn="ctr">
              <a:spcBef>
                <a:spcPts val="0"/>
              </a:spcBef>
              <a:buNone/>
              <a:defRPr b="1" i="0" sz="1100" u="none" cap="none" strike="noStrike">
                <a:solidFill>
                  <a:schemeClr val="dk2"/>
                </a:solidFill>
                <a:latin typeface="Calibri"/>
                <a:ea typeface="Calibri"/>
                <a:cs typeface="Calibri"/>
                <a:sym typeface="Calibri"/>
              </a:defRPr>
            </a:lvl6pPr>
            <a:lvl7pPr indent="0" lvl="6" marL="0" marR="0" rtl="0" algn="ctr">
              <a:spcBef>
                <a:spcPts val="0"/>
              </a:spcBef>
              <a:buNone/>
              <a:defRPr b="1" i="0" sz="1100" u="none" cap="none" strike="noStrike">
                <a:solidFill>
                  <a:schemeClr val="dk2"/>
                </a:solidFill>
                <a:latin typeface="Calibri"/>
                <a:ea typeface="Calibri"/>
                <a:cs typeface="Calibri"/>
                <a:sym typeface="Calibri"/>
              </a:defRPr>
            </a:lvl7pPr>
            <a:lvl8pPr indent="0" lvl="7" marL="0" marR="0" rtl="0" algn="ctr">
              <a:spcBef>
                <a:spcPts val="0"/>
              </a:spcBef>
              <a:buNone/>
              <a:defRPr b="1" i="0" sz="1100" u="none" cap="none" strike="noStrike">
                <a:solidFill>
                  <a:schemeClr val="dk2"/>
                </a:solidFill>
                <a:latin typeface="Calibri"/>
                <a:ea typeface="Calibri"/>
                <a:cs typeface="Calibri"/>
                <a:sym typeface="Calibri"/>
              </a:defRPr>
            </a:lvl8pPr>
            <a:lvl9pPr indent="0" lvl="8" marL="0" marR="0" rtl="0" algn="ctr">
              <a:spcBef>
                <a:spcPts val="0"/>
              </a:spcBef>
              <a:buNone/>
              <a:defRPr b="1" i="0" sz="1100" u="none" cap="none" strike="noStrike">
                <a:solidFill>
                  <a:schemeClr val="dk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b="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5"/>
          <p:cNvSpPr/>
          <p:nvPr/>
        </p:nvSpPr>
        <p:spPr>
          <a:xfrm rot="5400000">
            <a:off x="8841585" y="-1222527"/>
            <a:ext cx="3695502" cy="3200400"/>
          </a:xfrm>
          <a:prstGeom prst="hexagon">
            <a:avLst>
              <a:gd fmla="val 25000" name="adj"/>
              <a:gd fmla="val 115470" name="vf"/>
            </a:avLst>
          </a:prstGeom>
          <a:noFill/>
          <a:ln cap="flat" cmpd="sng" w="15875">
            <a:solidFill>
              <a:schemeClr val="accent4">
                <a:alpha val="50196"/>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rot="5400000">
            <a:off x="10524081" y="1691640"/>
            <a:ext cx="3695502" cy="3200400"/>
          </a:xfrm>
          <a:prstGeom prst="hexagon">
            <a:avLst>
              <a:gd fmla="val 25000" name="adj"/>
              <a:gd fmla="val 115470" name="vf"/>
            </a:avLst>
          </a:prstGeom>
          <a:solidFill>
            <a:schemeClr val="accent1">
              <a:alpha val="25098"/>
            </a:schemeClr>
          </a:solidFill>
          <a:ln cap="flat" cmpd="sng" w="15875">
            <a:solidFill>
              <a:schemeClr val="accent4">
                <a:alpha val="45098"/>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rot="5400000">
            <a:off x="8841585" y="4605807"/>
            <a:ext cx="3695502" cy="3200400"/>
          </a:xfrm>
          <a:prstGeom prst="hexagon">
            <a:avLst>
              <a:gd fmla="val 25000" name="adj"/>
              <a:gd fmla="val 115470" name="vf"/>
            </a:avLst>
          </a:prstGeom>
          <a:noFill/>
          <a:ln cap="flat" cmpd="sng" w="15875">
            <a:solidFill>
              <a:schemeClr val="accent4">
                <a:alpha val="50196"/>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p:nvPr/>
        </p:nvSpPr>
        <p:spPr>
          <a:xfrm rot="5400000">
            <a:off x="6613359" y="3177540"/>
            <a:ext cx="580722" cy="502920"/>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p:nvPr/>
        </p:nvSpPr>
        <p:spPr>
          <a:xfrm rot="5400000">
            <a:off x="10849583" y="1728216"/>
            <a:ext cx="337874" cy="292608"/>
          </a:xfrm>
          <a:prstGeom prst="hexagon">
            <a:avLst>
              <a:gd fmla="val 25000" name="adj"/>
              <a:gd fmla="val 115470" name="vf"/>
            </a:avLst>
          </a:prstGeom>
          <a:solidFill>
            <a:schemeClr val="accent3">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rot="5400000">
            <a:off x="6868728" y="1440180"/>
            <a:ext cx="4276224" cy="3703320"/>
          </a:xfrm>
          <a:prstGeom prst="hexagon">
            <a:avLst>
              <a:gd fmla="val 25000" name="adj"/>
              <a:gd fmla="val 115470" name="vf"/>
            </a:avLst>
          </a:prstGeom>
          <a:solidFill>
            <a:schemeClr val="accent1">
              <a:alpha val="4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rot="5400000">
            <a:off x="6755697" y="4800600"/>
            <a:ext cx="844686" cy="731520"/>
          </a:xfrm>
          <a:prstGeom prst="hexagon">
            <a:avLst>
              <a:gd fmla="val 25000" name="adj"/>
              <a:gd fmla="val 115470" name="vf"/>
            </a:avLst>
          </a:prstGeom>
          <a:noFill/>
          <a:ln cap="flat" cmpd="sng" w="19050">
            <a:solidFill>
              <a:schemeClr val="accent3">
                <a:alpha val="65098"/>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p:nvPr/>
        </p:nvSpPr>
        <p:spPr>
          <a:xfrm rot="5400000">
            <a:off x="7159089" y="1691640"/>
            <a:ext cx="3695502" cy="3200400"/>
          </a:xfrm>
          <a:prstGeom prst="hexagon">
            <a:avLst>
              <a:gd fmla="val 25000" name="adj"/>
              <a:gd fmla="val 115470" name="vf"/>
            </a:avLst>
          </a:prstGeom>
          <a:solidFill>
            <a:schemeClr val="lt1"/>
          </a:solid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enesis logo" id="33" name="Google Shape;33;p5"/>
          <p:cNvPicPr preferRelativeResize="0"/>
          <p:nvPr/>
        </p:nvPicPr>
        <p:blipFill rotWithShape="1">
          <a:blip r:embed="rId3">
            <a:alphaModFix/>
          </a:blip>
          <a:srcRect b="0" l="0" r="0" t="0"/>
          <a:stretch/>
        </p:blipFill>
        <p:spPr>
          <a:xfrm>
            <a:off x="8110766" y="2125980"/>
            <a:ext cx="1792148" cy="2331720"/>
          </a:xfrm>
          <a:prstGeom prst="rect">
            <a:avLst/>
          </a:prstGeom>
          <a:noFill/>
          <a:ln>
            <a:noFill/>
          </a:ln>
        </p:spPr>
      </p:pic>
      <p:sp>
        <p:nvSpPr>
          <p:cNvPr id="34" name="Google Shape;34;p5"/>
          <p:cNvSpPr txBox="1"/>
          <p:nvPr/>
        </p:nvSpPr>
        <p:spPr>
          <a:xfrm>
            <a:off x="548640" y="378085"/>
            <a:ext cx="5303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200"/>
              <a:buFont typeface="Calibri"/>
              <a:buNone/>
            </a:pPr>
            <a:r>
              <a:rPr b="1" i="0" lang="en-US" spc="400" sz="1200" u="none" cap="none" strike="noStrike">
                <a:solidFill>
                  <a:schemeClr val="accent3"/>
                </a:solidFill>
                <a:latin typeface="Calibri"/>
                <a:ea typeface="Calibri"/>
                <a:cs typeface="Calibri"/>
                <a:sym typeface="Calibri"/>
              </a:rPr>
              <a:t>PRE-IDEATHON TEMPLATE</a:t>
            </a:r>
            <a:endParaRPr b="0" i="0" sz="1200" u="none" cap="none" strike="noStrike">
              <a:solidFill>
                <a:schemeClr val="dk1"/>
              </a:solidFill>
              <a:latin typeface="Calibri"/>
              <a:ea typeface="Calibri"/>
              <a:cs typeface="Calibri"/>
              <a:sym typeface="Calibri"/>
            </a:endParaRPr>
          </a:p>
        </p:txBody>
      </p:sp>
      <p:sp>
        <p:nvSpPr>
          <p:cNvPr id="35" name="Google Shape;35;p5"/>
          <p:cNvSpPr txBox="1"/>
          <p:nvPr/>
        </p:nvSpPr>
        <p:spPr>
          <a:xfrm>
            <a:off x="548640" y="698125"/>
            <a:ext cx="5669280" cy="1600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5400"/>
              <a:buFont typeface="Cambria"/>
              <a:buNone/>
            </a:pPr>
            <a:r>
              <a:rPr b="1" i="0" lang="en-US" spc="200" sz="5400" u="none" cap="none" strike="noStrike">
                <a:solidFill>
                  <a:schemeClr val="lt1"/>
                </a:solidFill>
                <a:latin typeface="Cambria"/>
                <a:ea typeface="Cambria"/>
                <a:cs typeface="Cambria"/>
                <a:sym typeface="Cambria"/>
              </a:rPr>
              <a:t>GENESIS</a:t>
            </a:r>
            <a:endParaRPr b="0" i="0" sz="5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accent3"/>
              </a:buClr>
              <a:buSzPts val="5400"/>
              <a:buFont typeface="Cambria"/>
              <a:buNone/>
            </a:pPr>
            <a:r>
              <a:rPr b="1" i="0" lang="en-US" spc="200" sz="5400" u="none" cap="none" strike="noStrike">
                <a:solidFill>
                  <a:schemeClr val="accent3"/>
                </a:solidFill>
                <a:latin typeface="Cambria"/>
                <a:ea typeface="Cambria"/>
                <a:cs typeface="Cambria"/>
                <a:sym typeface="Cambria"/>
              </a:rPr>
              <a:t>IDEATHON</a:t>
            </a:r>
            <a:endParaRPr b="0" i="0" sz="5400" u="none" cap="none" strike="noStrike">
              <a:solidFill>
                <a:schemeClr val="dk1"/>
              </a:solidFill>
              <a:latin typeface="Calibri"/>
              <a:ea typeface="Calibri"/>
              <a:cs typeface="Calibri"/>
              <a:sym typeface="Calibri"/>
            </a:endParaRPr>
          </a:p>
        </p:txBody>
      </p:sp>
      <p:sp>
        <p:nvSpPr>
          <p:cNvPr id="36" name="Google Shape;36;p5"/>
          <p:cNvSpPr/>
          <p:nvPr/>
        </p:nvSpPr>
        <p:spPr>
          <a:xfrm>
            <a:off x="548640" y="2417197"/>
            <a:ext cx="2103120" cy="384048"/>
          </a:xfrm>
          <a:prstGeom prst="roundRect">
            <a:avLst>
              <a:gd fmla="val 50000" name="adj"/>
            </a:avLst>
          </a:prstGeom>
          <a:noFill/>
          <a:ln cap="flat" cmpd="sng" w="1587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pc="300" sz="1300" u="none" cap="none" strike="noStrike">
                <a:solidFill>
                  <a:schemeClr val="lt1"/>
                </a:solidFill>
                <a:latin typeface="Calibri"/>
                <a:ea typeface="Calibri"/>
                <a:cs typeface="Calibri"/>
                <a:sym typeface="Calibri"/>
              </a:rPr>
              <a:t>TEAM &amp; DOMAIN</a:t>
            </a:r>
            <a:endParaRPr b="0" i="0" sz="1300" u="none" cap="none" strike="noStrike">
              <a:solidFill>
                <a:schemeClr val="dk1"/>
              </a:solidFill>
              <a:latin typeface="Calibri"/>
              <a:ea typeface="Calibri"/>
              <a:cs typeface="Calibri"/>
              <a:sym typeface="Calibri"/>
            </a:endParaRPr>
          </a:p>
        </p:txBody>
      </p:sp>
      <p:sp>
        <p:nvSpPr>
          <p:cNvPr id="37" name="Google Shape;37;p5"/>
          <p:cNvSpPr txBox="1"/>
          <p:nvPr/>
        </p:nvSpPr>
        <p:spPr>
          <a:xfrm>
            <a:off x="548640" y="3138639"/>
            <a:ext cx="6035040" cy="3021236"/>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chemeClr val="accent3"/>
              </a:buClr>
              <a:buSzPts val="1200"/>
              <a:buFont typeface="Calibri"/>
              <a:buChar char="•"/>
            </a:pPr>
            <a:r>
              <a:rPr b="0" i="0" lang="en-US" sz="1200" u="none" cap="none" strike="noStrike">
                <a:solidFill>
                  <a:schemeClr val="lt1"/>
                </a:solidFill>
                <a:latin typeface="Calibri"/>
                <a:ea typeface="Calibri"/>
                <a:cs typeface="Calibri"/>
                <a:sym typeface="Calibri"/>
              </a:rPr>
              <a:t>Team Name –  MATSYA</a:t>
            </a:r>
            <a:endParaRPr b="0" i="0" sz="1200" u="none" cap="none" strike="noStrike">
              <a:solidFill>
                <a:schemeClr val="dk1"/>
              </a:solidFill>
              <a:latin typeface="Calibri"/>
              <a:ea typeface="Calibri"/>
              <a:cs typeface="Calibri"/>
              <a:sym typeface="Calibri"/>
            </a:endParaRPr>
          </a:p>
          <a:p>
            <a:pPr indent="-279400" lvl="0" marL="279400" marR="0" rtl="0" algn="l">
              <a:spcBef>
                <a:spcPts val="1400"/>
              </a:spcBef>
              <a:spcAft>
                <a:spcPts val="0"/>
              </a:spcAft>
              <a:buClr>
                <a:schemeClr val="accent3"/>
              </a:buClr>
              <a:buSzPts val="1200"/>
              <a:buFont typeface="Calibri"/>
              <a:buChar char="•"/>
            </a:pPr>
            <a:r>
              <a:rPr b="0" i="0" lang="en-US" sz="1200" u="none" cap="none" strike="noStrike">
                <a:solidFill>
                  <a:schemeClr val="lt1"/>
                </a:solidFill>
                <a:latin typeface="Calibri"/>
                <a:ea typeface="Calibri"/>
                <a:cs typeface="Calibri"/>
                <a:sym typeface="Calibri"/>
              </a:rPr>
              <a:t>Team Members –</a:t>
            </a:r>
            <a:endParaRPr/>
          </a:p>
          <a:p>
            <a:pPr indent="0" lvl="0" marL="0" marR="0" rtl="0" algn="l">
              <a:spcBef>
                <a:spcPts val="1400"/>
              </a:spcBef>
              <a:spcAft>
                <a:spcPts val="0"/>
              </a:spcAft>
              <a:buNone/>
            </a:pPr>
            <a:r>
              <a:rPr b="0" i="0" lang="en-US" sz="1200" u="none" cap="none" strike="noStrike">
                <a:solidFill>
                  <a:schemeClr val="lt1"/>
                </a:solidFill>
                <a:latin typeface="Calibri"/>
                <a:ea typeface="Calibri"/>
                <a:cs typeface="Calibri"/>
                <a:sym typeface="Calibri"/>
              </a:rPr>
              <a:t>Neil Ganguly (CB.EN.U4AEE25057)</a:t>
            </a:r>
            <a:endParaRPr/>
          </a:p>
          <a:p>
            <a:pPr indent="0" lvl="0" marL="0" marR="0" rtl="0" algn="l">
              <a:spcBef>
                <a:spcPts val="1400"/>
              </a:spcBef>
              <a:spcAft>
                <a:spcPts val="0"/>
              </a:spcAft>
              <a:buNone/>
            </a:pPr>
            <a:r>
              <a:rPr b="0" i="0" lang="en-US" sz="1200" u="none" cap="none" strike="noStrike">
                <a:solidFill>
                  <a:schemeClr val="lt1"/>
                </a:solidFill>
                <a:latin typeface="Calibri"/>
                <a:ea typeface="Calibri"/>
                <a:cs typeface="Calibri"/>
                <a:sym typeface="Calibri"/>
              </a:rPr>
              <a:t>Sandeep Kumar S (CB.EN.U4AEE25043)</a:t>
            </a:r>
            <a:endParaRPr/>
          </a:p>
          <a:p>
            <a:pPr indent="0" lvl="0" marL="0" marR="0" rtl="0" algn="l">
              <a:spcBef>
                <a:spcPts val="1400"/>
              </a:spcBef>
              <a:spcAft>
                <a:spcPts val="0"/>
              </a:spcAft>
              <a:buNone/>
            </a:pPr>
            <a:r>
              <a:rPr b="0" i="0" lang="en-US" sz="1200" u="none" cap="none" strike="noStrike">
                <a:solidFill>
                  <a:schemeClr val="lt1"/>
                </a:solidFill>
                <a:latin typeface="Calibri"/>
                <a:ea typeface="Calibri"/>
                <a:cs typeface="Calibri"/>
                <a:sym typeface="Calibri"/>
              </a:rPr>
              <a:t>Dinesh Karthik (CB.EN.U4AEE25058)</a:t>
            </a:r>
            <a:endParaRPr/>
          </a:p>
          <a:p>
            <a:pPr indent="0" lvl="0" marL="0" marR="0" rtl="0" algn="l">
              <a:spcBef>
                <a:spcPts val="1400"/>
              </a:spcBef>
              <a:spcAft>
                <a:spcPts val="0"/>
              </a:spcAft>
              <a:buNone/>
            </a:pPr>
            <a:r>
              <a:rPr b="0" i="0" lang="en-US" sz="1200" u="none" cap="none" strike="noStrike">
                <a:solidFill>
                  <a:schemeClr val="lt1"/>
                </a:solidFill>
                <a:latin typeface="Calibri"/>
                <a:ea typeface="Calibri"/>
                <a:cs typeface="Calibri"/>
                <a:sym typeface="Calibri"/>
              </a:rPr>
              <a:t>Monisa Reddy (CB.EN.U4AEE2505</a:t>
            </a:r>
            <a:r>
              <a:rPr lang="en-US" sz="1200">
                <a:solidFill>
                  <a:schemeClr val="lt1"/>
                </a:solidFill>
                <a:latin typeface="Calibri"/>
                <a:ea typeface="Calibri"/>
                <a:cs typeface="Calibri"/>
                <a:sym typeface="Calibri"/>
              </a:rPr>
              <a:t>1</a:t>
            </a:r>
            <a:r>
              <a:rPr b="0" i="0" lang="en-US" sz="1200" u="none" cap="none" strike="noStrike">
                <a:solidFill>
                  <a:schemeClr val="lt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a:p>
            <a:pPr indent="-279400" lvl="0" marL="279400" marR="0" rtl="0" algn="l">
              <a:spcBef>
                <a:spcPts val="1400"/>
              </a:spcBef>
              <a:spcAft>
                <a:spcPts val="0"/>
              </a:spcAft>
              <a:buClr>
                <a:schemeClr val="accent3"/>
              </a:buClr>
              <a:buSzPts val="1200"/>
              <a:buFont typeface="Calibri"/>
              <a:buChar char="•"/>
            </a:pPr>
            <a:r>
              <a:rPr b="0" i="0" lang="en-US" sz="1200" u="none" cap="none" strike="noStrike">
                <a:solidFill>
                  <a:schemeClr val="lt1"/>
                </a:solidFill>
                <a:latin typeface="Calibri"/>
                <a:ea typeface="Calibri"/>
                <a:cs typeface="Calibri"/>
                <a:sym typeface="Calibri"/>
              </a:rPr>
              <a:t>Selected Domain – D4 : Climate Action, Water &amp; Environmental Resilience</a:t>
            </a:r>
            <a:endParaRPr b="0" i="0" sz="1200" u="none" cap="none" strike="noStrike">
              <a:solidFill>
                <a:schemeClr val="dk1"/>
              </a:solidFill>
              <a:latin typeface="Calibri"/>
              <a:ea typeface="Calibri"/>
              <a:cs typeface="Calibri"/>
              <a:sym typeface="Calibri"/>
            </a:endParaRPr>
          </a:p>
          <a:p>
            <a:pPr indent="-279400" lvl="0" marL="279400" marR="0" rtl="0" algn="l">
              <a:spcBef>
                <a:spcPts val="1400"/>
              </a:spcBef>
              <a:spcAft>
                <a:spcPts val="0"/>
              </a:spcAft>
              <a:buClr>
                <a:schemeClr val="accent3"/>
              </a:buClr>
              <a:buSzPts val="1200"/>
              <a:buFont typeface="Calibri"/>
              <a:buChar char="•"/>
            </a:pPr>
            <a:r>
              <a:rPr b="0" i="0" lang="en-US" sz="1200" u="none" cap="none" strike="noStrike">
                <a:solidFill>
                  <a:schemeClr val="lt1"/>
                </a:solidFill>
                <a:latin typeface="Calibri"/>
                <a:ea typeface="Calibri"/>
                <a:cs typeface="Calibri"/>
                <a:sym typeface="Calibri"/>
              </a:rPr>
              <a:t>Problem Statement – Existing aquatic monitoring methods struggle to provide continuous, non-intrusive, spatially resolved data for ecosystem protection.</a:t>
            </a:r>
            <a:endParaRPr/>
          </a:p>
          <a:p>
            <a:pPr indent="-209550" lvl="0" marL="279400" marR="0" rtl="0" algn="l">
              <a:spcBef>
                <a:spcPts val="1400"/>
              </a:spcBef>
              <a:spcAft>
                <a:spcPts val="0"/>
              </a:spcAft>
              <a:buClr>
                <a:schemeClr val="accent3"/>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6"/>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DOMAIN PROBLEM IN OUR WORDS</a:t>
            </a:r>
            <a:endParaRPr sz="2400"/>
          </a:p>
        </p:txBody>
      </p:sp>
      <p:sp>
        <p:nvSpPr>
          <p:cNvPr id="44" name="Google Shape;44;p6"/>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46" name="Google Shape;46;p6"/>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47" name="Google Shape;47;p6"/>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MATSYA</a:t>
            </a:r>
            <a:endParaRPr sz="900">
              <a:solidFill>
                <a:schemeClr val="dk1"/>
              </a:solidFill>
              <a:latin typeface="Calibri"/>
              <a:ea typeface="Calibri"/>
              <a:cs typeface="Calibri"/>
              <a:sym typeface="Calibri"/>
            </a:endParaRPr>
          </a:p>
        </p:txBody>
      </p:sp>
      <p:sp>
        <p:nvSpPr>
          <p:cNvPr id="48" name="Google Shape;48;p6"/>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49" name="Google Shape;49;p6"/>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50" name="Google Shape;50;p6"/>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Explain the problem in your domain simply, in your own words</a:t>
            </a:r>
            <a:endParaRPr sz="1800">
              <a:solidFill>
                <a:schemeClr val="dk1"/>
              </a:solidFill>
              <a:latin typeface="Calibri"/>
              <a:ea typeface="Calibri"/>
              <a:cs typeface="Calibri"/>
              <a:sym typeface="Calibri"/>
            </a:endParaRPr>
          </a:p>
        </p:txBody>
      </p:sp>
      <p:sp>
        <p:nvSpPr>
          <p:cNvPr id="51" name="Google Shape;51;p6"/>
          <p:cNvSpPr txBox="1"/>
          <p:nvPr/>
        </p:nvSpPr>
        <p:spPr>
          <a:xfrm>
            <a:off x="868675" y="2148875"/>
            <a:ext cx="10847400" cy="40233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chemeClr val="accent1"/>
              </a:buClr>
              <a:buSzPts val="1800"/>
              <a:buFont typeface="Calibri"/>
              <a:buChar char="•"/>
            </a:pPr>
            <a:r>
              <a:rPr b="1" lang="en-US" sz="1800">
                <a:solidFill>
                  <a:schemeClr val="dk1"/>
                </a:solidFill>
                <a:latin typeface="Calibri"/>
                <a:ea typeface="Calibri"/>
                <a:cs typeface="Calibri"/>
                <a:sym typeface="Calibri"/>
              </a:rPr>
              <a:t>What exactly needs to be solved?</a:t>
            </a:r>
            <a:endParaRPr b="1"/>
          </a:p>
          <a:p>
            <a:pPr indent="0" lvl="0" marL="0" marR="0" rtl="0" algn="l">
              <a:spcBef>
                <a:spcPts val="1000"/>
              </a:spcBef>
              <a:spcAft>
                <a:spcPts val="0"/>
              </a:spcAft>
              <a:buNone/>
            </a:pPr>
            <a:r>
              <a:rPr lang="en-US" sz="1800">
                <a:solidFill>
                  <a:schemeClr val="dk1"/>
                </a:solidFill>
                <a:latin typeface="Calibri"/>
                <a:ea typeface="Calibri"/>
                <a:cs typeface="Calibri"/>
                <a:sym typeface="Calibri"/>
              </a:rPr>
              <a:t>The challenge we face is the lack of a reliable way to continuously understand what is happening underwater across large areas without disturbing the ecosystem. Conventional water-quality monitoring systems often rely on occasional sampling at fixed locations, making it very difficult to see how conditions may change across the water body or detect problems as they develop.</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79400" lvl="0" marL="279400" marR="0" rtl="0" algn="l">
              <a:spcBef>
                <a:spcPts val="0"/>
              </a:spcBef>
              <a:spcAft>
                <a:spcPts val="0"/>
              </a:spcAft>
              <a:buClr>
                <a:schemeClr val="accent1"/>
              </a:buClr>
              <a:buSzPts val="1800"/>
              <a:buFont typeface="Calibri"/>
              <a:buChar char="•"/>
            </a:pPr>
            <a:r>
              <a:rPr b="1" lang="en-US" sz="1800">
                <a:solidFill>
                  <a:schemeClr val="dk1"/>
                </a:solidFill>
                <a:latin typeface="Calibri"/>
                <a:ea typeface="Calibri"/>
                <a:cs typeface="Calibri"/>
                <a:sym typeface="Calibri"/>
              </a:rPr>
              <a:t>Why is it important right now?</a:t>
            </a:r>
            <a:endParaRPr b="1"/>
          </a:p>
          <a:p>
            <a:pPr indent="0" lvl="0" marL="0" marR="0" rtl="0" algn="l">
              <a:spcBef>
                <a:spcPts val="1000"/>
              </a:spcBef>
              <a:spcAft>
                <a:spcPts val="0"/>
              </a:spcAft>
              <a:buNone/>
            </a:pPr>
            <a:r>
              <a:rPr lang="en-US" sz="1800">
                <a:solidFill>
                  <a:schemeClr val="dk1"/>
                </a:solidFill>
                <a:latin typeface="Calibri"/>
                <a:ea typeface="Calibri"/>
                <a:cs typeface="Calibri"/>
                <a:sym typeface="Calibri"/>
              </a:rPr>
              <a:t>As climate change and pollution place growing pressure on our rivers, lakes, and water ecosystems, changes beneath the surface can go unnoticed until significant damage has already occurred. </a:t>
            </a:r>
            <a:endParaRPr/>
          </a:p>
          <a:p>
            <a:pPr indent="0" lvl="0" marL="0" marR="0" rtl="0" algn="l">
              <a:spcBef>
                <a:spcPts val="1000"/>
              </a:spcBef>
              <a:spcAft>
                <a:spcPts val="0"/>
              </a:spcAft>
              <a:buNone/>
            </a:pPr>
            <a:r>
              <a:rPr lang="en-US" sz="1800">
                <a:solidFill>
                  <a:schemeClr val="dk1"/>
                </a:solidFill>
                <a:latin typeface="Calibri"/>
                <a:ea typeface="Calibri"/>
                <a:cs typeface="Calibri"/>
                <a:sym typeface="Calibri"/>
              </a:rPr>
              <a:t>We need a better way to continuously understand these changes while leaving the ecosystems we are trying to protect undisturbed.</a:t>
            </a:r>
            <a:endParaRPr sz="1800">
              <a:solidFill>
                <a:schemeClr val="dk1"/>
              </a:solidFill>
              <a:latin typeface="Calibri"/>
              <a:ea typeface="Calibri"/>
              <a:cs typeface="Calibri"/>
              <a:sym typeface="Calibri"/>
            </a:endParaRPr>
          </a:p>
        </p:txBody>
      </p:sp>
      <p:sp>
        <p:nvSpPr>
          <p:cNvPr id="52" name="Google Shape;52;p6"/>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7"/>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WHO IS AFFECTED?</a:t>
            </a:r>
            <a:endParaRPr sz="2400"/>
          </a:p>
        </p:txBody>
      </p:sp>
      <p:sp>
        <p:nvSpPr>
          <p:cNvPr id="59" name="Google Shape;59;p7"/>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61" name="Google Shape;61;p7"/>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62" name="Google Shape;62;p7"/>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MATSYA</a:t>
            </a:r>
            <a:endParaRPr sz="900">
              <a:solidFill>
                <a:schemeClr val="dk1"/>
              </a:solidFill>
              <a:latin typeface="Calibri"/>
              <a:ea typeface="Calibri"/>
              <a:cs typeface="Calibri"/>
              <a:sym typeface="Calibri"/>
            </a:endParaRPr>
          </a:p>
        </p:txBody>
      </p:sp>
      <p:sp>
        <p:nvSpPr>
          <p:cNvPr id="63" name="Google Shape;63;p7"/>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64" name="Google Shape;64;p7"/>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65" name="Google Shape;65;p7"/>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Target users, stakeholders, beneficiaries</a:t>
            </a:r>
            <a:endParaRPr sz="1800">
              <a:solidFill>
                <a:schemeClr val="dk1"/>
              </a:solidFill>
              <a:latin typeface="Calibri"/>
              <a:ea typeface="Calibri"/>
              <a:cs typeface="Calibri"/>
              <a:sym typeface="Calibri"/>
            </a:endParaRPr>
          </a:p>
        </p:txBody>
      </p:sp>
      <p:sp>
        <p:nvSpPr>
          <p:cNvPr id="66" name="Google Shape;66;p7"/>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
        <p:nvSpPr>
          <p:cNvPr id="67" name="Google Shape;67;p7"/>
          <p:cNvSpPr txBox="1"/>
          <p:nvPr/>
        </p:nvSpPr>
        <p:spPr>
          <a:xfrm>
            <a:off x="914400" y="1986188"/>
            <a:ext cx="10653900" cy="435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Who are the primary users and target groups?</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dk1"/>
                </a:solidFill>
                <a:latin typeface="Calibri"/>
                <a:ea typeface="Calibri"/>
                <a:cs typeface="Calibri"/>
                <a:sym typeface="Calibri"/>
              </a:rPr>
              <a:t>Environmental researchers, aquatic scientists, and water-quality monitoring teams who need to study underwater environments and understand changes in water quality.</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Who are the secondary stakeholders?</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dk1"/>
                </a:solidFill>
                <a:latin typeface="Calibri"/>
                <a:ea typeface="Calibri"/>
                <a:cs typeface="Calibri"/>
                <a:sym typeface="Calibri"/>
              </a:rPr>
              <a:t>Pollution control authorities, fisheries departments, environmental NGOs, and local government bodies involved in protecting aquatic ecosystems.</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Who benefits if the problem is solved?</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dk1"/>
                </a:solidFill>
                <a:latin typeface="Calibri"/>
                <a:ea typeface="Calibri"/>
                <a:cs typeface="Calibri"/>
                <a:sym typeface="Calibri"/>
              </a:rPr>
              <a:t>Local communities that depend on clean water, researchers studying aquatic life, and authorities working to protect water bodies can benefit from better underwater monitoring and more informed environmental decisions</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8"/>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CURRENT SITUATION &amp; CONTEXT</a:t>
            </a:r>
            <a:endParaRPr sz="2400"/>
          </a:p>
        </p:txBody>
      </p:sp>
      <p:sp>
        <p:nvSpPr>
          <p:cNvPr id="74" name="Google Shape;74;p8"/>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76" name="Google Shape;76;p8"/>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77" name="Google Shape;77;p8"/>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MATSYA</a:t>
            </a:r>
            <a:endParaRPr sz="900">
              <a:solidFill>
                <a:schemeClr val="dk1"/>
              </a:solidFill>
              <a:latin typeface="Calibri"/>
              <a:ea typeface="Calibri"/>
              <a:cs typeface="Calibri"/>
              <a:sym typeface="Calibri"/>
            </a:endParaRPr>
          </a:p>
        </p:txBody>
      </p:sp>
      <p:sp>
        <p:nvSpPr>
          <p:cNvPr id="78" name="Google Shape;78;p8"/>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79" name="Google Shape;79;p8"/>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80" name="Google Shape;80;p8"/>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Existing scenario, background and how things work today</a:t>
            </a:r>
            <a:endParaRPr sz="1800">
              <a:solidFill>
                <a:schemeClr val="dk1"/>
              </a:solidFill>
              <a:latin typeface="Calibri"/>
              <a:ea typeface="Calibri"/>
              <a:cs typeface="Calibri"/>
              <a:sym typeface="Calibri"/>
            </a:endParaRPr>
          </a:p>
        </p:txBody>
      </p:sp>
      <p:sp>
        <p:nvSpPr>
          <p:cNvPr id="81" name="Google Shape;81;p8"/>
          <p:cNvSpPr txBox="1"/>
          <p:nvPr/>
        </p:nvSpPr>
        <p:spPr>
          <a:xfrm>
            <a:off x="914400" y="2113725"/>
            <a:ext cx="10801800" cy="4074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sz="1600"/>
              <a:t>•</a:t>
            </a:r>
            <a:r>
              <a:rPr b="1" lang="en-US" sz="1600">
                <a:solidFill>
                  <a:schemeClr val="dk1"/>
                </a:solidFill>
              </a:rPr>
              <a:t> </a:t>
            </a:r>
            <a:r>
              <a:rPr b="1" lang="en-US" sz="1800">
                <a:solidFill>
                  <a:schemeClr val="dk1"/>
                </a:solidFill>
                <a:latin typeface="Calibri"/>
                <a:ea typeface="Calibri"/>
                <a:cs typeface="Calibri"/>
                <a:sym typeface="Calibri"/>
              </a:rPr>
              <a:t>What is the existing scenario?</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dk1"/>
                </a:solidFill>
                <a:latin typeface="Calibri"/>
                <a:ea typeface="Calibri"/>
                <a:cs typeface="Calibri"/>
                <a:sym typeface="Calibri"/>
              </a:rPr>
              <a:t>Water bodies are commonly monitored through manual water sampling, laboratory testing, and underwater inspections. These methods help assess water quality and understand the condition of aquatic ecosystems.</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800">
                <a:solidFill>
                  <a:schemeClr val="dk1"/>
                </a:solidFill>
                <a:latin typeface="Calibri"/>
                <a:ea typeface="Calibri"/>
                <a:cs typeface="Calibri"/>
                <a:sym typeface="Calibri"/>
              </a:rPr>
              <a:t>• What relevant data or facts are available?</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dk1"/>
                </a:solidFill>
                <a:latin typeface="Calibri"/>
                <a:ea typeface="Calibri"/>
                <a:cs typeface="Calibri"/>
                <a:sym typeface="Calibri"/>
              </a:rPr>
              <a:t>Parameters such as pH, dissolved oxygen, turbidity, and temperature help determine water quality. However, conditions can vary across locations and change over time, making regular monitoring important.</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US" sz="1800">
                <a:solidFill>
                  <a:schemeClr val="dk1"/>
                </a:solidFill>
                <a:latin typeface="Calibri"/>
                <a:ea typeface="Calibri"/>
                <a:cs typeface="Calibri"/>
                <a:sym typeface="Calibri"/>
              </a:rPr>
              <a:t>• How does the current workflow work?</a:t>
            </a:r>
            <a:endParaRPr b="1"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dk1"/>
                </a:solidFill>
                <a:latin typeface="Calibri"/>
                <a:ea typeface="Calibri"/>
                <a:cs typeface="Calibri"/>
                <a:sym typeface="Calibri"/>
              </a:rPr>
              <a:t>The process generally begins with collecting water samples or taking sensor measurements. The collected data is then analysed to assess water quality and identify possible environmental concerns. Repeated monitoring may be needed to understand how conditions change over time.</a:t>
            </a:r>
            <a:endParaRPr sz="1800">
              <a:solidFill>
                <a:schemeClr val="dk1"/>
              </a:solidFill>
              <a:latin typeface="Calibri"/>
              <a:ea typeface="Calibri"/>
              <a:cs typeface="Calibri"/>
              <a:sym typeface="Calibri"/>
            </a:endParaRPr>
          </a:p>
          <a:p>
            <a:pPr indent="0" lvl="0" marL="457200" marR="0" rtl="0" algn="l">
              <a:spcBef>
                <a:spcPts val="1200"/>
              </a:spcBef>
              <a:spcAft>
                <a:spcPts val="0"/>
              </a:spcAft>
              <a:buNone/>
            </a:pPr>
            <a:r>
              <a:t/>
            </a:r>
            <a:endParaRPr sz="1800">
              <a:solidFill>
                <a:schemeClr val="dk1"/>
              </a:solidFill>
              <a:latin typeface="Calibri"/>
              <a:ea typeface="Calibri"/>
              <a:cs typeface="Calibri"/>
              <a:sym typeface="Calibri"/>
            </a:endParaRPr>
          </a:p>
        </p:txBody>
      </p:sp>
      <p:sp>
        <p:nvSpPr>
          <p:cNvPr id="82" name="Google Shape;82;p8"/>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9"/>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KEY CHALLENGES</a:t>
            </a:r>
            <a:endParaRPr sz="2400"/>
          </a:p>
        </p:txBody>
      </p:sp>
      <p:sp>
        <p:nvSpPr>
          <p:cNvPr id="89" name="Google Shape;89;p9"/>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91" name="Google Shape;91;p9"/>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92" name="Google Shape;92;p9"/>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MATSYA</a:t>
            </a:r>
            <a:endParaRPr sz="900">
              <a:solidFill>
                <a:schemeClr val="dk1"/>
              </a:solidFill>
              <a:latin typeface="Calibri"/>
              <a:ea typeface="Calibri"/>
              <a:cs typeface="Calibri"/>
              <a:sym typeface="Calibri"/>
            </a:endParaRPr>
          </a:p>
        </p:txBody>
      </p:sp>
      <p:sp>
        <p:nvSpPr>
          <p:cNvPr id="93" name="Google Shape;93;p9"/>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94" name="Google Shape;94;p9"/>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95" name="Google Shape;95;p9"/>
          <p:cNvSpPr txBox="1"/>
          <p:nvPr/>
        </p:nvSpPr>
        <p:spPr>
          <a:xfrm>
            <a:off x="1170432" y="1417320"/>
            <a:ext cx="9601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Main difficulties, bottlenecks, root causes and consequences</a:t>
            </a:r>
            <a:endParaRPr sz="1800">
              <a:solidFill>
                <a:schemeClr val="dk1"/>
              </a:solidFill>
              <a:latin typeface="Calibri"/>
              <a:ea typeface="Calibri"/>
              <a:cs typeface="Calibri"/>
              <a:sym typeface="Calibri"/>
            </a:endParaRPr>
          </a:p>
        </p:txBody>
      </p:sp>
      <p:sp>
        <p:nvSpPr>
          <p:cNvPr id="96" name="Google Shape;96;p9"/>
          <p:cNvSpPr txBox="1"/>
          <p:nvPr/>
        </p:nvSpPr>
        <p:spPr>
          <a:xfrm>
            <a:off x="512250" y="1989475"/>
            <a:ext cx="11602800" cy="317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800">
                <a:solidFill>
                  <a:schemeClr val="accent1"/>
                </a:solidFill>
              </a:rPr>
              <a:t>•   </a:t>
            </a:r>
            <a:r>
              <a:rPr b="1" lang="en-US" sz="1800">
                <a:solidFill>
                  <a:schemeClr val="dk1"/>
                </a:solidFill>
                <a:latin typeface="Calibri"/>
                <a:ea typeface="Calibri"/>
                <a:cs typeface="Calibri"/>
                <a:sym typeface="Calibri"/>
              </a:rPr>
              <a:t>Main difficulties and bottlenecks</a:t>
            </a:r>
            <a:endParaRPr b="1" sz="1800">
              <a:solidFill>
                <a:schemeClr val="dk1"/>
              </a:solidFill>
              <a:latin typeface="Calibri"/>
              <a:ea typeface="Calibri"/>
              <a:cs typeface="Calibri"/>
              <a:sym typeface="Calibri"/>
            </a:endParaRPr>
          </a:p>
          <a:p>
            <a:pPr indent="0" lvl="0" marL="279400" rtl="0" algn="l">
              <a:lnSpc>
                <a:spcPct val="115000"/>
              </a:lnSpc>
              <a:spcBef>
                <a:spcPts val="400"/>
              </a:spcBef>
              <a:spcAft>
                <a:spcPts val="0"/>
              </a:spcAft>
              <a:buNone/>
            </a:pPr>
            <a:r>
              <a:rPr lang="en-US" sz="1800">
                <a:solidFill>
                  <a:srgbClr val="0E2A2F"/>
                </a:solidFill>
                <a:latin typeface="Calibri"/>
                <a:ea typeface="Calibri"/>
                <a:cs typeface="Calibri"/>
                <a:sym typeface="Calibri"/>
              </a:rPr>
              <a:t>A lake or river changes constantly across its length, depth and seasons, yet we only ever see it in small snapshots. Fixed stations describe a single spot, manual sampling happens occasionally, and the robots that could fill the gap tend to stir up sediment, disturb wildlife and run through their batteries quickly in shallow or sensitive areas.</a:t>
            </a:r>
            <a:endParaRPr sz="1800">
              <a:solidFill>
                <a:srgbClr val="0E2A2F"/>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accent1"/>
                </a:solidFill>
              </a:rPr>
              <a:t>•   </a:t>
            </a:r>
            <a:r>
              <a:rPr b="1" lang="en-US" sz="1800">
                <a:solidFill>
                  <a:schemeClr val="dk1"/>
                </a:solidFill>
                <a:latin typeface="Calibri"/>
                <a:ea typeface="Calibri"/>
                <a:cs typeface="Calibri"/>
                <a:sym typeface="Calibri"/>
              </a:rPr>
              <a:t>Root causes behind them</a:t>
            </a:r>
            <a:endParaRPr b="1" sz="1800">
              <a:solidFill>
                <a:schemeClr val="dk1"/>
              </a:solidFill>
              <a:latin typeface="Calibri"/>
              <a:ea typeface="Calibri"/>
              <a:cs typeface="Calibri"/>
              <a:sym typeface="Calibri"/>
            </a:endParaRPr>
          </a:p>
          <a:p>
            <a:pPr indent="0" lvl="0" marL="279400" rtl="0" algn="l">
              <a:lnSpc>
                <a:spcPct val="115000"/>
              </a:lnSpc>
              <a:spcBef>
                <a:spcPts val="400"/>
              </a:spcBef>
              <a:spcAft>
                <a:spcPts val="0"/>
              </a:spcAft>
              <a:buNone/>
            </a:pPr>
            <a:r>
              <a:rPr lang="en-US" sz="1800">
                <a:solidFill>
                  <a:srgbClr val="0E2A2F"/>
                </a:solidFill>
                <a:latin typeface="Calibri"/>
                <a:ea typeface="Calibri"/>
                <a:cs typeface="Calibri"/>
                <a:sym typeface="Calibri"/>
              </a:rPr>
              <a:t>Most monitoring tools were built around cost and convenience, not coverage. Sensors are bolted to fixed points, sampling depends on someone travelling to the site, and propeller-driven vehicles were never designed to move gently through delicate habitats. </a:t>
            </a:r>
            <a:endParaRPr sz="1800">
              <a:solidFill>
                <a:srgbClr val="0E2A2F"/>
              </a:solidFill>
              <a:latin typeface="Calibri"/>
              <a:ea typeface="Calibri"/>
              <a:cs typeface="Calibri"/>
              <a:sym typeface="Calibri"/>
            </a:endParaRPr>
          </a:p>
          <a:p>
            <a:pPr indent="0" lvl="0" marL="0" rtl="0" algn="l">
              <a:lnSpc>
                <a:spcPct val="115000"/>
              </a:lnSpc>
              <a:spcBef>
                <a:spcPts val="1200"/>
              </a:spcBef>
              <a:spcAft>
                <a:spcPts val="0"/>
              </a:spcAft>
              <a:buNone/>
            </a:pPr>
            <a:r>
              <a:rPr lang="en-US" sz="1800">
                <a:solidFill>
                  <a:schemeClr val="accent1"/>
                </a:solidFill>
              </a:rPr>
              <a:t>•</a:t>
            </a:r>
            <a:r>
              <a:rPr lang="en-US" sz="1800"/>
              <a:t> </a:t>
            </a:r>
            <a:r>
              <a:rPr b="1" lang="en-US" sz="1800">
                <a:solidFill>
                  <a:schemeClr val="dk1"/>
                </a:solidFill>
                <a:latin typeface="Calibri"/>
                <a:ea typeface="Calibri"/>
                <a:cs typeface="Calibri"/>
                <a:sym typeface="Calibri"/>
              </a:rPr>
              <a:t>Consequences of leaving them unsolved</a:t>
            </a:r>
            <a:endParaRPr b="1" sz="1800">
              <a:solidFill>
                <a:schemeClr val="dk1"/>
              </a:solidFill>
              <a:latin typeface="Calibri"/>
              <a:ea typeface="Calibri"/>
              <a:cs typeface="Calibri"/>
              <a:sym typeface="Calibri"/>
            </a:endParaRPr>
          </a:p>
          <a:p>
            <a:pPr indent="0" lvl="0" marL="279400" rtl="0" algn="l">
              <a:lnSpc>
                <a:spcPct val="115000"/>
              </a:lnSpc>
              <a:spcBef>
                <a:spcPts val="400"/>
              </a:spcBef>
              <a:spcAft>
                <a:spcPts val="1200"/>
              </a:spcAft>
              <a:buNone/>
            </a:pPr>
            <a:r>
              <a:rPr lang="en-US" sz="1800">
                <a:solidFill>
                  <a:srgbClr val="0E2A2F"/>
                </a:solidFill>
                <a:latin typeface="Calibri"/>
                <a:ea typeface="Calibri"/>
                <a:cs typeface="Calibri"/>
                <a:sym typeface="Calibri"/>
              </a:rPr>
              <a:t>Pollution spills, algal blooms and falling oxygen levels get noticed late, often only after fish die-offs or visible damage. Authorities end up reacting instead of preventing, habitats decline quietly, and the communities that rely on these waters for drinking, fishing and farming bear the cost.</a:t>
            </a:r>
            <a:endParaRPr sz="1800">
              <a:solidFill>
                <a:srgbClr val="0E2A2F"/>
              </a:solidFill>
              <a:latin typeface="Calibri"/>
              <a:ea typeface="Calibri"/>
              <a:cs typeface="Calibri"/>
              <a:sym typeface="Calibri"/>
            </a:endParaRPr>
          </a:p>
        </p:txBody>
      </p:sp>
      <p:sp>
        <p:nvSpPr>
          <p:cNvPr id="97" name="Google Shape;97;p9"/>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0"/>
          <p:cNvSpPr txBox="1"/>
          <p:nvPr>
            <p:ph type="title"/>
          </p:nvPr>
        </p:nvSpPr>
        <p:spPr>
          <a:xfrm>
            <a:off x="3246120" y="320040"/>
            <a:ext cx="7498200" cy="82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EXISTING SOLUTIONS / APPROACHES</a:t>
            </a:r>
            <a:endParaRPr sz="2400"/>
          </a:p>
        </p:txBody>
      </p:sp>
      <p:sp>
        <p:nvSpPr>
          <p:cNvPr id="104" name="Google Shape;104;p10"/>
          <p:cNvSpPr/>
          <p:nvPr/>
        </p:nvSpPr>
        <p:spPr>
          <a:xfrm>
            <a:off x="457200" y="320040"/>
            <a:ext cx="2606100" cy="82290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a:off x="603504" y="457200"/>
            <a:ext cx="630900" cy="54870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106" name="Google Shape;106;p10"/>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107" name="Google Shape;107;p10"/>
          <p:cNvSpPr txBox="1"/>
          <p:nvPr/>
        </p:nvSpPr>
        <p:spPr>
          <a:xfrm>
            <a:off x="1371600" y="384048"/>
            <a:ext cx="1627500" cy="694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MATSYA</a:t>
            </a:r>
            <a:endParaRPr sz="900">
              <a:solidFill>
                <a:schemeClr val="dk1"/>
              </a:solidFill>
              <a:latin typeface="Calibri"/>
              <a:ea typeface="Calibri"/>
              <a:cs typeface="Calibri"/>
              <a:sym typeface="Calibri"/>
            </a:endParaRPr>
          </a:p>
        </p:txBody>
      </p:sp>
      <p:sp>
        <p:nvSpPr>
          <p:cNvPr id="108" name="Google Shape;108;p10"/>
          <p:cNvSpPr/>
          <p:nvPr/>
        </p:nvSpPr>
        <p:spPr>
          <a:xfrm>
            <a:off x="548640" y="1463040"/>
            <a:ext cx="457200" cy="396000"/>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109" name="Google Shape;109;p10"/>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110" name="Google Shape;110;p10"/>
          <p:cNvSpPr txBox="1"/>
          <p:nvPr/>
        </p:nvSpPr>
        <p:spPr>
          <a:xfrm>
            <a:off x="1170432" y="1417320"/>
            <a:ext cx="9601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What is already being done, and where it falls short</a:t>
            </a:r>
            <a:endParaRPr sz="1800">
              <a:solidFill>
                <a:schemeClr val="dk1"/>
              </a:solidFill>
              <a:latin typeface="Calibri"/>
              <a:ea typeface="Calibri"/>
              <a:cs typeface="Calibri"/>
              <a:sym typeface="Calibri"/>
            </a:endParaRPr>
          </a:p>
        </p:txBody>
      </p:sp>
      <p:sp>
        <p:nvSpPr>
          <p:cNvPr id="111" name="Google Shape;111;p10"/>
          <p:cNvSpPr txBox="1"/>
          <p:nvPr>
            <p:ph idx="4294967295" type="sldNum"/>
          </p:nvPr>
        </p:nvSpPr>
        <p:spPr>
          <a:xfrm>
            <a:off x="11259007" y="6409944"/>
            <a:ext cx="457200" cy="39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graphicFrame>
        <p:nvGraphicFramePr>
          <p:cNvPr id="112" name="Google Shape;112;p10"/>
          <p:cNvGraphicFramePr/>
          <p:nvPr/>
        </p:nvGraphicFramePr>
        <p:xfrm>
          <a:off x="548630" y="2052335"/>
          <a:ext cx="3000000" cy="3000000"/>
        </p:xfrm>
        <a:graphic>
          <a:graphicData uri="http://schemas.openxmlformats.org/drawingml/2006/table">
            <a:tbl>
              <a:tblPr>
                <a:noFill/>
                <a:tableStyleId>{994C160A-1457-4E74-A2E7-71E93A287A52}</a:tableStyleId>
              </a:tblPr>
              <a:tblGrid>
                <a:gridCol w="2393100"/>
                <a:gridCol w="3221525"/>
                <a:gridCol w="5552975"/>
              </a:tblGrid>
              <a:tr h="478950">
                <a:tc>
                  <a:txBody>
                    <a:bodyPr/>
                    <a:lstStyle/>
                    <a:p>
                      <a:pPr indent="0" lvl="0" marL="0" marR="0" rtl="0" algn="l">
                        <a:spcBef>
                          <a:spcPts val="0"/>
                        </a:spcBef>
                        <a:spcAft>
                          <a:spcPts val="0"/>
                        </a:spcAft>
                        <a:buClr>
                          <a:srgbClr val="FFFFFF"/>
                        </a:buClr>
                        <a:buSzPts val="1000"/>
                        <a:buFont typeface="Calibri"/>
                        <a:buNone/>
                      </a:pPr>
                      <a:r>
                        <a:rPr b="1" lang="en-US" sz="1800" u="none" cap="none" strike="noStrike">
                          <a:solidFill>
                            <a:srgbClr val="FFFFFF"/>
                          </a:solidFill>
                          <a:latin typeface="Calibri"/>
                          <a:ea typeface="Calibri"/>
                          <a:cs typeface="Calibri"/>
                          <a:sym typeface="Calibri"/>
                        </a:rPr>
                        <a:t>Existing approach</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026855"/>
                    </a:solidFill>
                  </a:tcPr>
                </a:tc>
                <a:tc>
                  <a:txBody>
                    <a:bodyPr/>
                    <a:lstStyle/>
                    <a:p>
                      <a:pPr indent="0" lvl="0" marL="0" marR="0" rtl="0" algn="l">
                        <a:spcBef>
                          <a:spcPts val="0"/>
                        </a:spcBef>
                        <a:spcAft>
                          <a:spcPts val="0"/>
                        </a:spcAft>
                        <a:buClr>
                          <a:srgbClr val="FFFFFF"/>
                        </a:buClr>
                        <a:buSzPts val="1000"/>
                        <a:buFont typeface="Calibri"/>
                        <a:buNone/>
                      </a:pPr>
                      <a:r>
                        <a:rPr b="1" lang="en-US" sz="1800" u="none" cap="none" strike="noStrike">
                          <a:solidFill>
                            <a:srgbClr val="FFFFFF"/>
                          </a:solidFill>
                          <a:latin typeface="Calibri"/>
                          <a:ea typeface="Calibri"/>
                          <a:cs typeface="Calibri"/>
                          <a:sym typeface="Calibri"/>
                        </a:rPr>
                        <a:t>What it offers</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026855"/>
                    </a:solidFill>
                  </a:tcPr>
                </a:tc>
                <a:tc>
                  <a:txBody>
                    <a:bodyPr/>
                    <a:lstStyle/>
                    <a:p>
                      <a:pPr indent="0" lvl="0" marL="0" marR="0" rtl="0" algn="l">
                        <a:spcBef>
                          <a:spcPts val="0"/>
                        </a:spcBef>
                        <a:spcAft>
                          <a:spcPts val="0"/>
                        </a:spcAft>
                        <a:buClr>
                          <a:srgbClr val="FFFFFF"/>
                        </a:buClr>
                        <a:buSzPts val="1000"/>
                        <a:buFont typeface="Calibri"/>
                        <a:buNone/>
                      </a:pPr>
                      <a:r>
                        <a:rPr b="1" lang="en-US" sz="1800" u="none" cap="none" strike="noStrike">
                          <a:solidFill>
                            <a:srgbClr val="FFFFFF"/>
                          </a:solidFill>
                          <a:latin typeface="Calibri"/>
                          <a:ea typeface="Calibri"/>
                          <a:cs typeface="Calibri"/>
                          <a:sym typeface="Calibri"/>
                        </a:rPr>
                        <a:t>Where it falls short</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026855"/>
                    </a:solidFill>
                  </a:tcPr>
                </a:tc>
              </a:tr>
              <a:tr h="670450">
                <a:tc>
                  <a:txBody>
                    <a:bodyPr/>
                    <a:lstStyle/>
                    <a:p>
                      <a:pPr indent="0" lvl="0" marL="0" marR="0" rtl="0" algn="l">
                        <a:spcBef>
                          <a:spcPts val="0"/>
                        </a:spcBef>
                        <a:spcAft>
                          <a:spcPts val="0"/>
                        </a:spcAft>
                        <a:buClr>
                          <a:srgbClr val="0E2A2F"/>
                        </a:buClr>
                        <a:buSzPts val="1000"/>
                        <a:buFont typeface="Calibri"/>
                        <a:buNone/>
                      </a:pPr>
                      <a:r>
                        <a:rPr b="1" lang="en-US" sz="1800" u="none" cap="none" strike="noStrike">
                          <a:solidFill>
                            <a:srgbClr val="0E2A2F"/>
                          </a:solidFill>
                          <a:latin typeface="Calibri"/>
                          <a:ea typeface="Calibri"/>
                          <a:cs typeface="Calibri"/>
                          <a:sym typeface="Calibri"/>
                        </a:rPr>
                        <a:t>Fixed monitoring stations</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E2A2F"/>
                        </a:buClr>
                        <a:buSzPts val="1000"/>
                        <a:buFont typeface="Calibri"/>
                        <a:buNone/>
                      </a:pPr>
                      <a:r>
                        <a:rPr lang="en-US" sz="1800" u="none" cap="none" strike="noStrike">
                          <a:solidFill>
                            <a:srgbClr val="0E2A2F"/>
                          </a:solidFill>
                          <a:latin typeface="Calibri"/>
                          <a:ea typeface="Calibri"/>
                          <a:cs typeface="Calibri"/>
                          <a:sym typeface="Calibri"/>
                        </a:rPr>
                        <a:t>Sensors fixed at set points that log readings continuously</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E2A2F"/>
                        </a:buClr>
                        <a:buSzPts val="1000"/>
                        <a:buFont typeface="Calibri"/>
                        <a:buNone/>
                      </a:pPr>
                      <a:r>
                        <a:rPr lang="en-US" sz="1800" u="none" cap="none" strike="noStrike">
                          <a:solidFill>
                            <a:srgbClr val="0E2A2F"/>
                          </a:solidFill>
                          <a:latin typeface="Calibri"/>
                          <a:ea typeface="Calibri"/>
                          <a:cs typeface="Calibri"/>
                          <a:sym typeface="Calibri"/>
                        </a:rPr>
                        <a:t>Describe only the spot they sit in. More stations are costly to install and maintain, so most of the water body stays unseen.</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r>
              <a:tr h="670450">
                <a:tc>
                  <a:txBody>
                    <a:bodyPr/>
                    <a:lstStyle/>
                    <a:p>
                      <a:pPr indent="0" lvl="0" marL="0" marR="0" rtl="0" algn="l">
                        <a:spcBef>
                          <a:spcPts val="0"/>
                        </a:spcBef>
                        <a:spcAft>
                          <a:spcPts val="0"/>
                        </a:spcAft>
                        <a:buClr>
                          <a:srgbClr val="0E2A2F"/>
                        </a:buClr>
                        <a:buSzPts val="1000"/>
                        <a:buFont typeface="Calibri"/>
                        <a:buNone/>
                      </a:pPr>
                      <a:r>
                        <a:rPr b="1" lang="en-US" sz="1800" u="none" cap="none" strike="noStrike">
                          <a:solidFill>
                            <a:srgbClr val="0E2A2F"/>
                          </a:solidFill>
                          <a:latin typeface="Calibri"/>
                          <a:ea typeface="Calibri"/>
                          <a:cs typeface="Calibri"/>
                          <a:sym typeface="Calibri"/>
                        </a:rPr>
                        <a:t>Manual sampling and lab testing</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E2A2F"/>
                        </a:buClr>
                        <a:buSzPts val="1000"/>
                        <a:buFont typeface="Calibri"/>
                        <a:buNone/>
                      </a:pPr>
                      <a:r>
                        <a:rPr lang="en-US" sz="1800" u="none" cap="none" strike="noStrike">
                          <a:solidFill>
                            <a:srgbClr val="0E2A2F"/>
                          </a:solidFill>
                          <a:latin typeface="Calibri"/>
                          <a:ea typeface="Calibri"/>
                          <a:cs typeface="Calibri"/>
                          <a:sym typeface="Calibri"/>
                        </a:rPr>
                        <a:t>People collect water samples from boats or the shore for lab analysis</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E2A2F"/>
                        </a:buClr>
                        <a:buSzPts val="1000"/>
                        <a:buFont typeface="Calibri"/>
                        <a:buNone/>
                      </a:pPr>
                      <a:r>
                        <a:rPr lang="en-US" sz="1800" u="none" cap="none" strike="noStrike">
                          <a:solidFill>
                            <a:srgbClr val="0E2A2F"/>
                          </a:solidFill>
                          <a:latin typeface="Calibri"/>
                          <a:ea typeface="Calibri"/>
                          <a:cs typeface="Calibri"/>
                          <a:sym typeface="Calibri"/>
                        </a:rPr>
                        <a:t>Occasional, labour-intensive and slow. Results can arrive days later and short-lived pollution events are easily missed.</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r>
              <a:tr h="670450">
                <a:tc>
                  <a:txBody>
                    <a:bodyPr/>
                    <a:lstStyle/>
                    <a:p>
                      <a:pPr indent="0" lvl="0" marL="0" marR="0" rtl="0" algn="l">
                        <a:spcBef>
                          <a:spcPts val="0"/>
                        </a:spcBef>
                        <a:spcAft>
                          <a:spcPts val="0"/>
                        </a:spcAft>
                        <a:buClr>
                          <a:srgbClr val="0E2A2F"/>
                        </a:buClr>
                        <a:buSzPts val="1000"/>
                        <a:buFont typeface="Calibri"/>
                        <a:buNone/>
                      </a:pPr>
                      <a:r>
                        <a:rPr b="1" lang="en-US" sz="1800" u="none" cap="none" strike="noStrike">
                          <a:solidFill>
                            <a:srgbClr val="0E2A2F"/>
                          </a:solidFill>
                          <a:latin typeface="Calibri"/>
                          <a:ea typeface="Calibri"/>
                          <a:cs typeface="Calibri"/>
                          <a:sym typeface="Calibri"/>
                        </a:rPr>
                        <a:t>Satellite and drone imagery</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E2A2F"/>
                        </a:buClr>
                        <a:buSzPts val="1000"/>
                        <a:buFont typeface="Calibri"/>
                        <a:buNone/>
                      </a:pPr>
                      <a:r>
                        <a:rPr lang="en-US" sz="1800" u="none" cap="none" strike="noStrike">
                          <a:solidFill>
                            <a:srgbClr val="0E2A2F"/>
                          </a:solidFill>
                          <a:latin typeface="Calibri"/>
                          <a:ea typeface="Calibri"/>
                          <a:cs typeface="Calibri"/>
                          <a:sym typeface="Calibri"/>
                        </a:rPr>
                        <a:t>Remote sensing of surface features such as algal growth and turbidity</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E2A2F"/>
                        </a:buClr>
                        <a:buSzPts val="1000"/>
                        <a:buFont typeface="Calibri"/>
                        <a:buNone/>
                      </a:pPr>
                      <a:r>
                        <a:rPr lang="en-US" sz="1800" u="none" cap="none" strike="noStrike">
                          <a:solidFill>
                            <a:srgbClr val="0E2A2F"/>
                          </a:solidFill>
                          <a:latin typeface="Calibri"/>
                          <a:ea typeface="Calibri"/>
                          <a:cs typeface="Calibri"/>
                          <a:sym typeface="Calibri"/>
                        </a:rPr>
                        <a:t>Sees mostly the surface and says little about what lies below. Cloud cover and image resolution limit how useful it is.</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r>
              <a:tr h="839325">
                <a:tc>
                  <a:txBody>
                    <a:bodyPr/>
                    <a:lstStyle/>
                    <a:p>
                      <a:pPr indent="0" lvl="0" marL="0" marR="0" rtl="0" algn="l">
                        <a:spcBef>
                          <a:spcPts val="0"/>
                        </a:spcBef>
                        <a:spcAft>
                          <a:spcPts val="0"/>
                        </a:spcAft>
                        <a:buClr>
                          <a:srgbClr val="0E2A2F"/>
                        </a:buClr>
                        <a:buSzPts val="1000"/>
                        <a:buFont typeface="Calibri"/>
                        <a:buNone/>
                      </a:pPr>
                      <a:r>
                        <a:rPr b="1" lang="en-US" sz="1800" u="none" cap="none" strike="noStrike">
                          <a:solidFill>
                            <a:srgbClr val="0E2A2F"/>
                          </a:solidFill>
                          <a:latin typeface="Calibri"/>
                          <a:ea typeface="Calibri"/>
                          <a:cs typeface="Calibri"/>
                          <a:sym typeface="Calibri"/>
                        </a:rPr>
                        <a:t>Conventional underwater robots (ROVs / AUVs)</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E2A2F"/>
                        </a:buClr>
                        <a:buSzPts val="1000"/>
                        <a:buFont typeface="Calibri"/>
                        <a:buNone/>
                      </a:pPr>
                      <a:r>
                        <a:rPr lang="en-US" sz="1800" u="none" cap="none" strike="noStrike">
                          <a:solidFill>
                            <a:srgbClr val="0E2A2F"/>
                          </a:solidFill>
                          <a:latin typeface="Calibri"/>
                          <a:ea typeface="Calibri"/>
                          <a:cs typeface="Calibri"/>
                          <a:sym typeface="Calibri"/>
                        </a:rPr>
                        <a:t>Propeller-driven vehicles that carry sensors beneath the surface</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E2A2F"/>
                        </a:buClr>
                        <a:buSzPts val="1000"/>
                        <a:buFont typeface="Calibri"/>
                        <a:buNone/>
                      </a:pPr>
                      <a:r>
                        <a:rPr lang="en-US" sz="1800" u="none" cap="none" strike="noStrike">
                          <a:solidFill>
                            <a:srgbClr val="0E2A2F"/>
                          </a:solidFill>
                          <a:latin typeface="Calibri"/>
                          <a:ea typeface="Calibri"/>
                          <a:cs typeface="Calibri"/>
                          <a:sym typeface="Calibri"/>
                        </a:rPr>
                        <a:t>Cover more ground, but propellers stir up sediment and disturb wildlife. They are hard to manoeuvre in shallow water and use a lot of energy on long missions.</a:t>
                      </a:r>
                      <a:endParaRPr sz="1800"/>
                    </a:p>
                  </a:txBody>
                  <a:tcPr marT="34300" marB="34300" marR="102875" marL="10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1"/>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PROBLEM INSIGHTS &amp; OPPORTUNITY AREAS</a:t>
            </a:r>
            <a:endParaRPr sz="2400"/>
          </a:p>
        </p:txBody>
      </p:sp>
      <p:sp>
        <p:nvSpPr>
          <p:cNvPr id="119" name="Google Shape;119;p11"/>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121" name="Google Shape;121;p11"/>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122" name="Google Shape;122;p11"/>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MATSYA</a:t>
            </a:r>
            <a:endParaRPr sz="900">
              <a:solidFill>
                <a:schemeClr val="dk1"/>
              </a:solidFill>
              <a:latin typeface="Calibri"/>
              <a:ea typeface="Calibri"/>
              <a:cs typeface="Calibri"/>
              <a:sym typeface="Calibri"/>
            </a:endParaRPr>
          </a:p>
        </p:txBody>
      </p:sp>
      <p:sp>
        <p:nvSpPr>
          <p:cNvPr id="123" name="Google Shape;123;p11"/>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124" name="Google Shape;124;p11"/>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125" name="Google Shape;125;p11"/>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Resources required to solve the problem</a:t>
            </a:r>
            <a:endParaRPr sz="1800">
              <a:solidFill>
                <a:schemeClr val="dk1"/>
              </a:solidFill>
              <a:latin typeface="Calibri"/>
              <a:ea typeface="Calibri"/>
              <a:cs typeface="Calibri"/>
              <a:sym typeface="Calibri"/>
            </a:endParaRPr>
          </a:p>
        </p:txBody>
      </p:sp>
      <p:sp>
        <p:nvSpPr>
          <p:cNvPr id="126" name="Google Shape;126;p11"/>
          <p:cNvSpPr txBox="1"/>
          <p:nvPr/>
        </p:nvSpPr>
        <p:spPr>
          <a:xfrm>
            <a:off x="868675" y="2148850"/>
            <a:ext cx="10390200" cy="36084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chemeClr val="accent1"/>
              </a:buClr>
              <a:buSzPts val="1800"/>
              <a:buFont typeface="Calibri"/>
              <a:buChar char="•"/>
            </a:pPr>
            <a:r>
              <a:rPr b="1" lang="en-US" sz="1800">
                <a:solidFill>
                  <a:schemeClr val="dk1"/>
                </a:solidFill>
                <a:latin typeface="Calibri"/>
                <a:ea typeface="Calibri"/>
                <a:cs typeface="Calibri"/>
                <a:sym typeface="Calibri"/>
              </a:rPr>
              <a:t>Hardware:</a:t>
            </a:r>
            <a:r>
              <a:rPr lang="en-US" sz="1800">
                <a:solidFill>
                  <a:schemeClr val="dk1"/>
                </a:solidFill>
                <a:latin typeface="Calibri"/>
                <a:ea typeface="Calibri"/>
                <a:cs typeface="Calibri"/>
                <a:sym typeface="Calibri"/>
              </a:rPr>
              <a:t> For this model, we would be needing a material that has a balance of structural rigidity and flexibility for biomimetic propulsion. </a:t>
            </a:r>
            <a:endParaRPr sz="1800">
              <a:solidFill>
                <a:schemeClr val="dk1"/>
              </a:solidFill>
              <a:latin typeface="Calibri"/>
              <a:ea typeface="Calibri"/>
              <a:cs typeface="Calibri"/>
              <a:sym typeface="Calibri"/>
            </a:endParaRPr>
          </a:p>
          <a:p>
            <a:pPr indent="0" lvl="0" marL="914400" marR="0" rtl="0" algn="l">
              <a:spcBef>
                <a:spcPts val="0"/>
              </a:spcBef>
              <a:spcAft>
                <a:spcPts val="0"/>
              </a:spcAft>
              <a:buNone/>
            </a:pPr>
            <a:r>
              <a:rPr lang="en-US" sz="1800">
                <a:solidFill>
                  <a:schemeClr val="dk1"/>
                </a:solidFill>
                <a:latin typeface="Calibri"/>
                <a:ea typeface="Calibri"/>
                <a:cs typeface="Calibri"/>
                <a:sym typeface="Calibri"/>
              </a:rPr>
              <a:t>Materials like Silicone elastomers, Thermoplastic Polyurethane (TPU), Shape memory alloys, etc. Are excellent choices of materials for this project.</a:t>
            </a:r>
            <a:endParaRPr sz="1800">
              <a:solidFill>
                <a:schemeClr val="dk1"/>
              </a:solidFill>
              <a:latin typeface="Calibri"/>
              <a:ea typeface="Calibri"/>
              <a:cs typeface="Calibri"/>
              <a:sym typeface="Calibri"/>
            </a:endParaRPr>
          </a:p>
          <a:p>
            <a:pPr indent="-279400" lvl="0" marL="279400" marR="0" rtl="0" algn="l">
              <a:spcBef>
                <a:spcPts val="1000"/>
              </a:spcBef>
              <a:spcAft>
                <a:spcPts val="0"/>
              </a:spcAft>
              <a:buClr>
                <a:schemeClr val="accent1"/>
              </a:buClr>
              <a:buSzPts val="1800"/>
              <a:buFont typeface="Calibri"/>
              <a:buChar char="•"/>
            </a:pPr>
            <a:r>
              <a:rPr b="1" lang="en-US" sz="1800">
                <a:solidFill>
                  <a:schemeClr val="dk1"/>
                </a:solidFill>
                <a:latin typeface="Calibri"/>
                <a:ea typeface="Calibri"/>
                <a:cs typeface="Calibri"/>
                <a:sym typeface="Calibri"/>
              </a:rPr>
              <a:t>Software:</a:t>
            </a:r>
            <a:r>
              <a:rPr lang="en-US" sz="1800">
                <a:solidFill>
                  <a:schemeClr val="dk1"/>
                </a:solidFill>
                <a:latin typeface="Calibri"/>
                <a:ea typeface="Calibri"/>
                <a:cs typeface="Calibri"/>
                <a:sym typeface="Calibri"/>
              </a:rPr>
              <a:t> Spatial coordinates and flow variables are fed into a Physics Informed Neural Network (PINNs) which, depending on application, can:</a:t>
            </a:r>
            <a:endParaRPr sz="1800">
              <a:solidFill>
                <a:schemeClr val="dk1"/>
              </a:solidFill>
              <a:latin typeface="Calibri"/>
              <a:ea typeface="Calibri"/>
              <a:cs typeface="Calibri"/>
              <a:sym typeface="Calibri"/>
            </a:endParaRPr>
          </a:p>
          <a:p>
            <a:pPr indent="0" lvl="0" marL="914400" marR="0" rtl="0" algn="l">
              <a:spcBef>
                <a:spcPts val="1000"/>
              </a:spcBef>
              <a:spcAft>
                <a:spcPts val="0"/>
              </a:spcAft>
              <a:buNone/>
            </a:pPr>
            <a:r>
              <a:rPr lang="en-US" sz="1800">
                <a:solidFill>
                  <a:schemeClr val="dk1"/>
                </a:solidFill>
                <a:latin typeface="Calibri"/>
                <a:ea typeface="Calibri"/>
                <a:cs typeface="Calibri"/>
                <a:sym typeface="Calibri"/>
              </a:rPr>
              <a:t>Reconstruct full 3D velocity and pressure fields from noisy and scattered sensor/experimental measurements.</a:t>
            </a:r>
            <a:endParaRPr sz="1800">
              <a:solidFill>
                <a:schemeClr val="dk1"/>
              </a:solidFill>
              <a:latin typeface="Calibri"/>
              <a:ea typeface="Calibri"/>
              <a:cs typeface="Calibri"/>
              <a:sym typeface="Calibri"/>
            </a:endParaRPr>
          </a:p>
          <a:p>
            <a:pPr indent="0" lvl="0" marL="914400" marR="0" rtl="0" algn="l">
              <a:spcBef>
                <a:spcPts val="1000"/>
              </a:spcBef>
              <a:spcAft>
                <a:spcPts val="0"/>
              </a:spcAft>
              <a:buNone/>
            </a:pPr>
            <a:r>
              <a:rPr lang="en-US" sz="1800">
                <a:solidFill>
                  <a:schemeClr val="dk1"/>
                </a:solidFill>
                <a:latin typeface="Calibri"/>
                <a:ea typeface="Calibri"/>
                <a:cs typeface="Calibri"/>
                <a:sym typeface="Calibri"/>
              </a:rPr>
              <a:t>Predict unknown boundary conditions or hidden physical parameters (</a:t>
            </a:r>
            <a:r>
              <a:rPr lang="en-US" sz="1800">
                <a:solidFill>
                  <a:schemeClr val="dk1"/>
                </a:solidFill>
                <a:latin typeface="Calibri"/>
                <a:ea typeface="Calibri"/>
                <a:cs typeface="Calibri"/>
                <a:sym typeface="Calibri"/>
              </a:rPr>
              <a:t>such as </a:t>
            </a:r>
            <a:r>
              <a:rPr lang="en-US" sz="1800">
                <a:solidFill>
                  <a:schemeClr val="dk1"/>
                </a:solidFill>
                <a:latin typeface="Calibri"/>
                <a:ea typeface="Calibri"/>
                <a:cs typeface="Calibri"/>
                <a:sym typeface="Calibri"/>
              </a:rPr>
              <a:t>fluid viscosity</a:t>
            </a:r>
            <a:r>
              <a:rPr lang="en-US" sz="1800">
                <a:solidFill>
                  <a:schemeClr val="dk1"/>
                </a:solidFill>
                <a:latin typeface="Calibri"/>
                <a:ea typeface="Calibri"/>
                <a:cs typeface="Calibri"/>
                <a:sym typeface="Calibri"/>
              </a:rPr>
              <a:t> or other turbulence characteristics</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27" name="Google Shape;127;p11"/>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2"/>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INITIAL DIRECTION &amp; EXPECTED OUTCOME</a:t>
            </a:r>
            <a:endParaRPr sz="2400"/>
          </a:p>
        </p:txBody>
      </p:sp>
      <p:sp>
        <p:nvSpPr>
          <p:cNvPr id="134" name="Google Shape;134;p12"/>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2"/>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136" name="Google Shape;136;p12"/>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137" name="Google Shape;137;p12"/>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MATSYA</a:t>
            </a:r>
            <a:endParaRPr sz="900">
              <a:solidFill>
                <a:schemeClr val="dk1"/>
              </a:solidFill>
              <a:latin typeface="Calibri"/>
              <a:ea typeface="Calibri"/>
              <a:cs typeface="Calibri"/>
              <a:sym typeface="Calibri"/>
            </a:endParaRPr>
          </a:p>
        </p:txBody>
      </p:sp>
      <p:sp>
        <p:nvSpPr>
          <p:cNvPr id="138" name="Google Shape;138;p12"/>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139" name="Google Shape;139;p12"/>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140" name="Google Shape;140;p12"/>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Our </a:t>
            </a:r>
            <a:r>
              <a:rPr b="1" lang="en-US" sz="1800">
                <a:solidFill>
                  <a:schemeClr val="accent2"/>
                </a:solidFill>
                <a:latin typeface="Calibri"/>
                <a:ea typeface="Calibri"/>
                <a:cs typeface="Calibri"/>
                <a:sym typeface="Calibri"/>
              </a:rPr>
              <a:t>Expected Outcome</a:t>
            </a:r>
            <a:endParaRPr sz="1800">
              <a:solidFill>
                <a:schemeClr val="dk1"/>
              </a:solidFill>
              <a:latin typeface="Calibri"/>
              <a:ea typeface="Calibri"/>
              <a:cs typeface="Calibri"/>
              <a:sym typeface="Calibri"/>
            </a:endParaRPr>
          </a:p>
        </p:txBody>
      </p:sp>
      <p:sp>
        <p:nvSpPr>
          <p:cNvPr id="141" name="Google Shape;141;p12"/>
          <p:cNvSpPr txBox="1"/>
          <p:nvPr/>
        </p:nvSpPr>
        <p:spPr>
          <a:xfrm>
            <a:off x="868675" y="2148865"/>
            <a:ext cx="10424100" cy="4041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chemeClr val="accent1"/>
              </a:buClr>
              <a:buSzPts val="1800"/>
              <a:buFont typeface="Calibri"/>
              <a:buChar char="•"/>
            </a:pPr>
            <a:r>
              <a:rPr b="1" lang="en-US" sz="1800">
                <a:solidFill>
                  <a:schemeClr val="dk1"/>
                </a:solidFill>
                <a:latin typeface="Calibri"/>
                <a:ea typeface="Calibri"/>
                <a:cs typeface="Calibri"/>
                <a:sym typeface="Calibri"/>
              </a:rPr>
              <a:t>What we intend to do:</a:t>
            </a:r>
            <a:endParaRPr b="1" sz="1800">
              <a:solidFill>
                <a:schemeClr val="dk1"/>
              </a:solidFill>
              <a:latin typeface="Calibri"/>
              <a:ea typeface="Calibri"/>
              <a:cs typeface="Calibri"/>
              <a:sym typeface="Calibri"/>
            </a:endParaRPr>
          </a:p>
          <a:p>
            <a:pPr indent="0" lvl="0" marL="914400" marR="0" rtl="0" algn="l">
              <a:spcBef>
                <a:spcPts val="0"/>
              </a:spcBef>
              <a:spcAft>
                <a:spcPts val="0"/>
              </a:spcAft>
              <a:buNone/>
            </a:pPr>
            <a:r>
              <a:rPr lang="en-US" sz="1800">
                <a:solidFill>
                  <a:schemeClr val="dk1"/>
                </a:solidFill>
                <a:latin typeface="Calibri"/>
                <a:ea typeface="Calibri"/>
                <a:cs typeface="Calibri"/>
                <a:sym typeface="Calibri"/>
              </a:rPr>
              <a:t>Design and build an autonomous, biomimetic robotic fish (Project Matsya) that utilizes Physics-Informed Neural Networks (PINNs) for real-time hydrodynamic state estimation and low-latency underwater navigation</a:t>
            </a:r>
            <a:endParaRPr sz="1800">
              <a:solidFill>
                <a:schemeClr val="dk1"/>
              </a:solidFill>
              <a:latin typeface="Calibri"/>
              <a:ea typeface="Calibri"/>
              <a:cs typeface="Calibri"/>
              <a:sym typeface="Calibri"/>
            </a:endParaRPr>
          </a:p>
          <a:p>
            <a:pPr indent="-279400" lvl="0" marL="279400" marR="0" rtl="0" algn="l">
              <a:spcBef>
                <a:spcPts val="1000"/>
              </a:spcBef>
              <a:spcAft>
                <a:spcPts val="0"/>
              </a:spcAft>
              <a:buClr>
                <a:schemeClr val="accent1"/>
              </a:buClr>
              <a:buSzPts val="1800"/>
              <a:buFont typeface="Calibri"/>
              <a:buChar char="•"/>
            </a:pPr>
            <a:r>
              <a:rPr b="1" lang="en-US" sz="1800">
                <a:solidFill>
                  <a:schemeClr val="dk1"/>
                </a:solidFill>
                <a:latin typeface="Calibri"/>
                <a:ea typeface="Calibri"/>
                <a:cs typeface="Calibri"/>
                <a:sym typeface="Calibri"/>
              </a:rPr>
              <a:t>What we want to improve:</a:t>
            </a:r>
            <a:endParaRPr b="1" sz="1800">
              <a:solidFill>
                <a:schemeClr val="dk1"/>
              </a:solidFill>
              <a:latin typeface="Calibri"/>
              <a:ea typeface="Calibri"/>
              <a:cs typeface="Calibri"/>
              <a:sym typeface="Calibri"/>
            </a:endParaRPr>
          </a:p>
          <a:p>
            <a:pPr indent="0" lvl="0" marL="914400" marR="0" rtl="0" algn="l">
              <a:spcBef>
                <a:spcPts val="1000"/>
              </a:spcBef>
              <a:spcAft>
                <a:spcPts val="0"/>
              </a:spcAft>
              <a:buNone/>
            </a:pPr>
            <a:r>
              <a:rPr lang="en-US" sz="1800">
                <a:solidFill>
                  <a:schemeClr val="dk1"/>
                </a:solidFill>
                <a:latin typeface="Calibri"/>
                <a:ea typeface="Calibri"/>
                <a:cs typeface="Calibri"/>
                <a:sym typeface="Calibri"/>
              </a:rPr>
              <a:t>Latency &amp; Hardware Overhead- (CFD) solvers are too computationally heavy to run on edge hardware inside small underwater vehicles, while standard deep learning models require vast amounts of labeled training data that are difficult to collect underwater.</a:t>
            </a:r>
            <a:endParaRPr sz="1800">
              <a:solidFill>
                <a:schemeClr val="dk1"/>
              </a:solidFill>
              <a:latin typeface="Calibri"/>
              <a:ea typeface="Calibri"/>
              <a:cs typeface="Calibri"/>
              <a:sym typeface="Calibri"/>
            </a:endParaRPr>
          </a:p>
          <a:p>
            <a:pPr indent="-279400" lvl="0" marL="279400" marR="0" rtl="0" algn="l">
              <a:spcBef>
                <a:spcPts val="1000"/>
              </a:spcBef>
              <a:spcAft>
                <a:spcPts val="0"/>
              </a:spcAft>
              <a:buClr>
                <a:schemeClr val="accent1"/>
              </a:buClr>
              <a:buSzPts val="1800"/>
              <a:buFont typeface="Calibri"/>
              <a:buChar char="•"/>
            </a:pPr>
            <a:r>
              <a:rPr b="1" lang="en-US" sz="1800">
                <a:solidFill>
                  <a:schemeClr val="dk1"/>
                </a:solidFill>
                <a:latin typeface="Calibri"/>
                <a:ea typeface="Calibri"/>
                <a:cs typeface="Calibri"/>
                <a:sym typeface="Calibri"/>
              </a:rPr>
              <a:t>What successful improvement we plan on achieving:</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914400" marR="0" rtl="0" algn="l">
              <a:spcBef>
                <a:spcPts val="1000"/>
              </a:spcBef>
              <a:spcAft>
                <a:spcPts val="0"/>
              </a:spcAft>
              <a:buNone/>
            </a:pPr>
            <a:r>
              <a:rPr lang="en-US" sz="1800">
                <a:solidFill>
                  <a:schemeClr val="dk1"/>
                </a:solidFill>
                <a:latin typeface="Calibri"/>
                <a:ea typeface="Calibri"/>
                <a:cs typeface="Calibri"/>
                <a:sym typeface="Calibri"/>
              </a:rPr>
              <a:t>Data-Efficient Training: Train the navigation and flow-estimation models using up to 70% less physical sensor data than purely data-driven black-box neural networks, while maintaining physical consistency with fluid mechanics.</a:t>
            </a:r>
            <a:endParaRPr sz="1800">
              <a:solidFill>
                <a:schemeClr val="dk1"/>
              </a:solidFill>
              <a:latin typeface="Calibri"/>
              <a:ea typeface="Calibri"/>
              <a:cs typeface="Calibri"/>
              <a:sym typeface="Calibri"/>
            </a:endParaRPr>
          </a:p>
        </p:txBody>
      </p:sp>
      <p:sp>
        <p:nvSpPr>
          <p:cNvPr id="142" name="Google Shape;142;p12"/>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TEAM CONTRIBUTION</a:t>
            </a:r>
            <a:endParaRPr sz="2400"/>
          </a:p>
        </p:txBody>
      </p:sp>
      <p:sp>
        <p:nvSpPr>
          <p:cNvPr id="149" name="Google Shape;149;p13"/>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151" name="Google Shape;151;p13"/>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152" name="Google Shape;152;p13"/>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MATSYA</a:t>
            </a:r>
            <a:endParaRPr sz="900">
              <a:solidFill>
                <a:schemeClr val="dk1"/>
              </a:solidFill>
              <a:latin typeface="Calibri"/>
              <a:ea typeface="Calibri"/>
              <a:cs typeface="Calibri"/>
              <a:sym typeface="Calibri"/>
            </a:endParaRPr>
          </a:p>
        </p:txBody>
      </p:sp>
      <p:sp>
        <p:nvSpPr>
          <p:cNvPr id="153" name="Google Shape;153;p13"/>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154" name="Google Shape;154;p13"/>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155" name="Google Shape;155;p13"/>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Who will handle which part of the execution</a:t>
            </a:r>
            <a:endParaRPr sz="1800">
              <a:solidFill>
                <a:schemeClr val="dk1"/>
              </a:solidFill>
              <a:latin typeface="Calibri"/>
              <a:ea typeface="Calibri"/>
              <a:cs typeface="Calibri"/>
              <a:sym typeface="Calibri"/>
            </a:endParaRPr>
          </a:p>
        </p:txBody>
      </p:sp>
      <p:graphicFrame>
        <p:nvGraphicFramePr>
          <p:cNvPr id="156" name="Google Shape;156;p13"/>
          <p:cNvGraphicFramePr/>
          <p:nvPr/>
        </p:nvGraphicFramePr>
        <p:xfrm>
          <a:off x="548640" y="2194560"/>
          <a:ext cx="3000000" cy="3000000"/>
        </p:xfrm>
        <a:graphic>
          <a:graphicData uri="http://schemas.openxmlformats.org/drawingml/2006/table">
            <a:tbl>
              <a:tblPr>
                <a:noFill/>
                <a:tableStyleId>{994C160A-1457-4E74-A2E7-71E93A287A52}</a:tableStyleId>
              </a:tblPr>
              <a:tblGrid>
                <a:gridCol w="3017525"/>
                <a:gridCol w="2560325"/>
                <a:gridCol w="5516575"/>
              </a:tblGrid>
              <a:tr h="548650">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latin typeface="Calibri"/>
                          <a:ea typeface="Calibri"/>
                          <a:cs typeface="Calibri"/>
                          <a:sym typeface="Calibri"/>
                        </a:rPr>
                        <a:t>Team Member</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latin typeface="Calibri"/>
                          <a:ea typeface="Calibri"/>
                          <a:cs typeface="Calibri"/>
                          <a:sym typeface="Calibri"/>
                        </a:rPr>
                        <a:t>Role</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latin typeface="Calibri"/>
                          <a:ea typeface="Calibri"/>
                          <a:cs typeface="Calibri"/>
                          <a:sym typeface="Calibri"/>
                        </a:rPr>
                        <a:t>Responsibility in Execution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accent1"/>
                    </a:solidFill>
                  </a:tcPr>
                </a:tc>
              </a:tr>
              <a:tr h="731525">
                <a:tc>
                  <a:txBody>
                    <a:bodyPr/>
                    <a:lstStyle/>
                    <a:p>
                      <a:pPr indent="0" lvl="0" marL="0" marR="0" rtl="0" algn="l">
                        <a:spcBef>
                          <a:spcPts val="0"/>
                        </a:spcBef>
                        <a:spcAft>
                          <a:spcPts val="0"/>
                        </a:spcAft>
                        <a:buClr>
                          <a:schemeClr val="dk1"/>
                        </a:buClr>
                        <a:buSzPts val="1400"/>
                        <a:buFont typeface="Calibri"/>
                        <a:buNone/>
                      </a:pPr>
                      <a:r>
                        <a:rPr b="1" lang="en-US">
                          <a:solidFill>
                            <a:schemeClr val="dk1"/>
                          </a:solidFill>
                          <a:latin typeface="Calibri"/>
                          <a:ea typeface="Calibri"/>
                          <a:cs typeface="Calibri"/>
                          <a:sym typeface="Calibri"/>
                        </a:rPr>
                        <a:t>Neil Ganguly</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latin typeface="Calibri"/>
                          <a:ea typeface="Calibri"/>
                          <a:cs typeface="Calibri"/>
                          <a:sym typeface="Calibri"/>
                        </a:rPr>
                        <a:t>Team Leader</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Coordination</a:t>
                      </a:r>
                      <a:r>
                        <a:rPr lang="en-US">
                          <a:solidFill>
                            <a:schemeClr val="accent5"/>
                          </a:solidFill>
                          <a:latin typeface="Calibri"/>
                          <a:ea typeface="Calibri"/>
                          <a:cs typeface="Calibri"/>
                          <a:sym typeface="Calibri"/>
                        </a:rPr>
                        <a:t> and Technical Applications</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r>
              <a:tr h="731525">
                <a:tc>
                  <a:txBody>
                    <a:bodyPr/>
                    <a:lstStyle/>
                    <a:p>
                      <a:pPr indent="0" lvl="0" marL="0" marR="0" rtl="0" algn="l">
                        <a:spcBef>
                          <a:spcPts val="0"/>
                        </a:spcBef>
                        <a:spcAft>
                          <a:spcPts val="0"/>
                        </a:spcAft>
                        <a:buClr>
                          <a:schemeClr val="dk1"/>
                        </a:buClr>
                        <a:buSzPts val="1400"/>
                        <a:buFont typeface="Calibri"/>
                        <a:buNone/>
                      </a:pPr>
                      <a:r>
                        <a:rPr b="1" lang="en-US">
                          <a:solidFill>
                            <a:schemeClr val="dk1"/>
                          </a:solidFill>
                          <a:latin typeface="Calibri"/>
                          <a:ea typeface="Calibri"/>
                          <a:cs typeface="Calibri"/>
                          <a:sym typeface="Calibri"/>
                        </a:rPr>
                        <a:t>Sandeep Kumar S</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latin typeface="Calibri"/>
                          <a:ea typeface="Calibri"/>
                          <a:cs typeface="Calibri"/>
                          <a:sym typeface="Calibri"/>
                        </a:rPr>
                        <a:t>Team Member</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Technical Hardware Implementation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r>
              <a:tr h="731525">
                <a:tc>
                  <a:txBody>
                    <a:bodyPr/>
                    <a:lstStyle/>
                    <a:p>
                      <a:pPr indent="0" lvl="0" marL="0" marR="0" rtl="0" algn="l">
                        <a:spcBef>
                          <a:spcPts val="0"/>
                        </a:spcBef>
                        <a:spcAft>
                          <a:spcPts val="0"/>
                        </a:spcAft>
                        <a:buClr>
                          <a:schemeClr val="dk1"/>
                        </a:buClr>
                        <a:buSzPts val="1400"/>
                        <a:buFont typeface="Calibri"/>
                        <a:buNone/>
                      </a:pPr>
                      <a:r>
                        <a:rPr b="1" lang="en-US">
                          <a:solidFill>
                            <a:schemeClr val="dk1"/>
                          </a:solidFill>
                          <a:latin typeface="Calibri"/>
                          <a:ea typeface="Calibri"/>
                          <a:cs typeface="Calibri"/>
                          <a:sym typeface="Calibri"/>
                        </a:rPr>
                        <a:t>Dinesh Karthik </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latin typeface="Calibri"/>
                          <a:ea typeface="Calibri"/>
                          <a:cs typeface="Calibri"/>
                          <a:sym typeface="Calibri"/>
                        </a:rPr>
                        <a:t>Team Member</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Research and Documentation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r>
              <a:tr h="731525">
                <a:tc>
                  <a:txBody>
                    <a:bodyPr/>
                    <a:lstStyle/>
                    <a:p>
                      <a:pPr indent="0" lvl="0" marL="0" marR="0" rtl="0" algn="l">
                        <a:spcBef>
                          <a:spcPts val="0"/>
                        </a:spcBef>
                        <a:spcAft>
                          <a:spcPts val="0"/>
                        </a:spcAft>
                        <a:buClr>
                          <a:schemeClr val="dk1"/>
                        </a:buClr>
                        <a:buSzPts val="1400"/>
                        <a:buFont typeface="Calibri"/>
                        <a:buNone/>
                      </a:pPr>
                      <a:r>
                        <a:rPr b="1" lang="en-US">
                          <a:solidFill>
                            <a:schemeClr val="dk1"/>
                          </a:solidFill>
                          <a:latin typeface="Calibri"/>
                          <a:ea typeface="Calibri"/>
                          <a:cs typeface="Calibri"/>
                          <a:sym typeface="Calibri"/>
                        </a:rPr>
                        <a:t>Monisa Reddy</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latin typeface="Calibri"/>
                          <a:ea typeface="Calibri"/>
                          <a:cs typeface="Calibri"/>
                          <a:sym typeface="Calibri"/>
                        </a:rPr>
                        <a:t>Team Member</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Research and Documentation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r>
            </a:tbl>
          </a:graphicData>
        </a:graphic>
      </p:graphicFrame>
      <p:sp>
        <p:nvSpPr>
          <p:cNvPr id="157" name="Google Shape;157;p13"/>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